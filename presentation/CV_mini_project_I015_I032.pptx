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f35ce79-b57f-3929-4526-8372267a8f97}">
          <p14:sldIdLst>
            <p14:sldId id="256"/>
            <p14:sldId id="257"/>
          </p14:sldIdLst>
        </p14:section>
        <p14:section name="Method" id="{95d30622-46e2-2ab4-21f2-a35e138e5c25}">
          <p14:sldIdLst>
            <p14:sldId id="258"/>
            <p14:sldId id="259"/>
            <p14:sldId id="260"/>
            <p14:sldId id="261"/>
          </p14:sldIdLst>
        </p14:section>
        <p14:section name="Results" id="{d49577fc-37cf-ca91-af48-69a77ef13ee3}">
          <p14:sldIdLst>
            <p14:sldId id="262"/>
            <p14:sldId id="263"/>
            <p14:sldId id="264"/>
            <p14:sldId id="265"/>
            <p14:sldId id="266"/>
            <p14:sldId id="267"/>
            <p14:sldId id="268"/>
          </p14:sldIdLst>
        </p14:section>
        <p14:section name="Performance" id="{36e918d5-81fb-e40f-6318-0ca79e40b8d0}">
          <p14:sldIdLst>
            <p14:sldId id="269"/>
            <p14:sldId id="270"/>
            <p14:sldId id="271"/>
          </p14:sldIdLst>
        </p14:section>
        <p14:section name="Contribution" id="{04fbde23-fe0e-f9be-0e8a-37e688de333d}">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21"/>
                </a:solidFill>
                <a:latin typeface="+mn-lt"/>
              </a:defRPr>
            </a:pPr>
            <a:r>
              <a:rPr sz="1400" b="0" i="0" u="none" strike="noStrike">
                <a:solidFill>
                  <a:srgbClr val="1B2A21"/>
                </a:solidFill>
                <a:latin typeface="+mn-lt"/>
              </a:rPr>
              <a:t>Structure measure Sα (higher is better)</a:t>
            </a:r>
          </a:p>
        </c:rich>
      </c:tx>
      <c:layout/>
      <c:overlay val="0"/>
    </c:title>
    <c:autoTitleDeleted val="0"/>
    <c:plotArea>
      <c:layout/>
      <c:barChart>
        <c:barDir val="col"/>
        <c:grouping val="clustered"/>
        <c:varyColors val="0"/>
        <c:ser>
          <c:idx val="0"/>
          <c:order val="0"/>
          <c:tx>
            <c:strRef>
              <c:f>Sheet1!$B$1</c:f>
              <c:strCache>
                <c:ptCount val="1"/>
                <c:pt idx="0">
                  <c:v>Clean</c:v>
                </c:pt>
              </c:strCache>
            </c:strRef>
          </c:tx>
          <c:spPr>
            <a:solidFill>
              <a:srgbClr val="A9C77C"/>
            </a:solidFill>
            <a:effectLst/>
          </c:spPr>
          <c:invertIfNegative val="0"/>
          <c:dLbls>
            <c:numFmt formatCode="0.000" sourceLinked="0"/>
            <c:txPr>
              <a:bodyPr/>
              <a:lstStyle/>
              <a:p>
                <a:pPr>
                  <a:defRPr b="0" i="0" strike="noStrike" sz="900" u="none">
                    <a:solidFill>
                      <a:srgbClr val="2C4A36"/>
                    </a:solidFill>
                    <a:latin typeface="+mn-lt"/>
                  </a:defRPr>
                </a:pPr>
              </a:p>
            </c:txPr>
            <c:showLegendKey val="0"/>
            <c:showVal val="1"/>
            <c:showCatName val="0"/>
            <c:showSerName val="0"/>
            <c:showPercent val="0"/>
            <c:showBubbleSize val="0"/>
            <c:showLeaderLines val="0"/>
          </c:dLbls>
          <c:cat>
            <c:multiLvlStrRef>
              <c:f>Sheet1!$A$2:$A$8</c:f>
              <c:multiLvlStrCache>
                <c:ptCount val="7"/>
                <c:lvl>
                  <c:pt idx="0">
                    <c:v>SINet-V2</c:v>
                  </c:pt>
                  <c:pt idx="1">
                    <c:v>PFNet</c:v>
                  </c:pt>
                  <c:pt idx="2">
                    <c:v>ZoomNet</c:v>
                  </c:pt>
                  <c:pt idx="3">
                    <c:v>SAM2-UNet</c:v>
                  </c:pt>
                  <c:pt idx="4">
                    <c:v>SAM-Adapter</c:v>
                  </c:pt>
                  <c:pt idx="5">
                    <c:v>Ours (1024)</c:v>
                  </c:pt>
                  <c:pt idx="6">
                    <c:v>Ours (512)</c:v>
                  </c:pt>
                </c:lvl>
              </c:multiLvlStrCache>
            </c:multiLvlStrRef>
          </c:cat>
          <c:val>
            <c:numRef>
              <c:f>Sheet1!$B$2:$B$8</c:f>
              <c:numCache>
                <c:formatCode>General</c:formatCode>
                <c:ptCount val="7"/>
                <c:pt idx="0">
                  <c:v>0.815</c:v>
                </c:pt>
                <c:pt idx="1">
                  <c:v>0.8</c:v>
                </c:pt>
                <c:pt idx="2">
                  <c:v>0.839</c:v>
                </c:pt>
                <c:pt idx="3">
                  <c:v>0.88</c:v>
                </c:pt>
                <c:pt idx="4">
                  <c:v>0.884</c:v>
                </c:pt>
                <c:pt idx="5">
                  <c:v>0.84</c:v>
                </c:pt>
                <c:pt idx="6">
                  <c:v>0.824</c:v>
                </c:pt>
              </c:numCache>
            </c:numRef>
          </c:val>
        </c:ser>
        <c:ser>
          <c:idx val="1"/>
          <c:order val="1"/>
          <c:tx>
            <c:strRef>
              <c:f>Sheet1!$C$1</c:f>
              <c:strCache>
                <c:ptCount val="1"/>
                <c:pt idx="0">
                  <c:v>Under corruption (mean of 40)</c:v>
                </c:pt>
              </c:strCache>
            </c:strRef>
          </c:tx>
          <c:spPr>
            <a:solidFill>
              <a:srgbClr val="4F7A3A"/>
            </a:solidFill>
            <a:effectLst/>
          </c:spPr>
          <c:invertIfNegative val="0"/>
          <c:dLbls>
            <c:numFmt formatCode="0.000" sourceLinked="0"/>
            <c:txPr>
              <a:bodyPr/>
              <a:lstStyle/>
              <a:p>
                <a:pPr>
                  <a:defRPr b="0" i="0" strike="noStrike" sz="900" u="none">
                    <a:solidFill>
                      <a:srgbClr val="2C4A36"/>
                    </a:solidFill>
                    <a:latin typeface="+mn-lt"/>
                  </a:defRPr>
                </a:pPr>
              </a:p>
            </c:txPr>
            <c:showLegendKey val="0"/>
            <c:showVal val="1"/>
            <c:showCatName val="0"/>
            <c:showSerName val="0"/>
            <c:showPercent val="0"/>
            <c:showBubbleSize val="0"/>
            <c:showLeaderLines val="0"/>
          </c:dLbls>
          <c:cat>
            <c:multiLvlStrRef>
              <c:f>Sheet1!$A$2:$A$8</c:f>
              <c:multiLvlStrCache>
                <c:ptCount val="7"/>
                <c:lvl>
                  <c:pt idx="0">
                    <c:v>SINet-V2</c:v>
                  </c:pt>
                  <c:pt idx="1">
                    <c:v>PFNet</c:v>
                  </c:pt>
                  <c:pt idx="2">
                    <c:v>ZoomNet</c:v>
                  </c:pt>
                  <c:pt idx="3">
                    <c:v>SAM2-UNet</c:v>
                  </c:pt>
                  <c:pt idx="4">
                    <c:v>SAM-Adapter</c:v>
                  </c:pt>
                  <c:pt idx="5">
                    <c:v>Ours (1024)</c:v>
                  </c:pt>
                  <c:pt idx="6">
                    <c:v>Ours (512)</c:v>
                  </c:pt>
                </c:lvl>
              </c:multiLvlStrCache>
            </c:multiLvlStrRef>
          </c:cat>
          <c:val>
            <c:numRef>
              <c:f>Sheet1!$C$2:$C$8</c:f>
              <c:numCache>
                <c:formatCode>General</c:formatCode>
                <c:ptCount val="7"/>
                <c:pt idx="0">
                  <c:v>0.795</c:v>
                </c:pt>
                <c:pt idx="1">
                  <c:v>0.773</c:v>
                </c:pt>
                <c:pt idx="2">
                  <c:v>0.803</c:v>
                </c:pt>
                <c:pt idx="3">
                  <c:v>0.866</c:v>
                </c:pt>
                <c:pt idx="4">
                  <c:v>0.853</c:v>
                </c:pt>
                <c:pt idx="5">
                  <c:v>0.812</c:v>
                </c:pt>
                <c:pt idx="6">
                  <c:v>0.805</c:v>
                </c:pt>
              </c:numCache>
            </c:numRef>
          </c:val>
        </c:ser>
        <c:dLbls>
          <c:numFmt formatCode="0.000" sourceLinked="0"/>
          <c:txPr>
            <a:bodyPr/>
            <a:lstStyle/>
            <a:p>
              <a:pPr>
                <a:defRPr b="0" i="0" strike="noStrike" sz="900" u="none">
                  <a:solidFill>
                    <a:srgbClr val="2C4A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4A36"/>
                </a:solidFill>
                <a:latin typeface="+mn-lt"/>
              </a:defRPr>
            </a:pPr>
            <a:endParaRPr lang="en-US"/>
          </a:p>
        </c:txPr>
        <c:crossAx val="2094734552"/>
        <c:crosses val="autoZero"/>
        <c:auto val="1"/>
        <c:lblAlgn val="ctr"/>
        <c:noMultiLvlLbl val="1"/>
      </c:catAx>
      <c:valAx>
        <c:axId val="2094734552"/>
        <c:scaling>
          <c:orientation val="minMax"/>
          <c:max val="0.9"/>
          <c:min val="0.7"/>
        </c:scaling>
        <c:delete val="0"/>
        <c:axPos val="l"/>
        <c:majorGridlines>
          <c:spPr>
            <a:ln w="6350" cap="flat">
              <a:solidFill>
                <a:srgbClr val="DDDDDD"/>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8F8A"/>
                </a:solidFill>
                <a:latin typeface="+mn-lt"/>
              </a:defRPr>
            </a:pPr>
            <a:endParaRPr lang="en-US"/>
          </a:p>
        </c:txPr>
        <c:crossAx val="2094734554"/>
        <c:crosses val="autoZero"/>
        <c:crossBetween val="between"/>
        <c:majorUnit val="0.05"/>
      </c:valAx>
      <c:spPr>
        <a:noFill/>
        <a:ln>
          <a:noFill/>
        </a:ln>
        <a:effectLst/>
      </c:spPr>
    </c:plotArea>
    <c:legend>
      <c:legendPos val="t"/>
      <c:overlay val="0"/>
      <c:txPr>
        <a:bodyPr/>
        <a:lstStyle/>
        <a:p>
          <a:pPr>
            <a:defRPr sz="1200">
              <a:solidFill>
                <a:srgbClr val="2C4A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The pictures on the right show the same camouflaged flatfish (a COD10K test image) clean, in fog and in rain: our detector has to find the animal in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 is segmentation, not boxes. Cameras in the field rarely give clean images. Nobody had measured how SAM-based COD models behave under corruption, and all the strongest models are too large for a student laptop. These two gaps define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stages. The rows read left to right; step 4 (orange) is our own model. Stress that all models go through one common interface, so they are compared under identical conditions, and that corruptions use fixed seeds, so every model sees exactly the same corrupted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of models: CNN specialists designed for COD, large SAM-based detectors, and our small SAM-based adapter. FEDER released only prediction maps, so it appears in the clean results only. The oracle-box MobileSAM is given the ground-truth box, so it is an analysis probe, not a competitor. The algorithm row lists the training and evaluation techniques; the next two slides explain their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goes through MobileSAM's TinyViT encoder, which stays frozen. Small bottleneck adapters, added beside each block's MLP, learn what camouflage looks like. SAM normally needs a click or a box; we replace those with learned prompt tokens, so the detector needs no user input. The SAM mask decoder is fine-tuned and outputs the camouflage map. During training each image is shown clean and corrupted; the consistency loss pushes the two predictions to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component. The baselines answer the benchmark question; the frozen encoder, adapters and prompts make the model small and automatic; augmentation and the consistency loss target robustness; the bootstrap tells us which differences are statistically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test image is evaluated clean and under 8 corruptions at 5 severities: 41 versions per image. Four corruptions are used during training (seen); the other four, including rain, are never seen in training, which tests real generalisation rather than memorised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with: python demo/app.py. Left: the photo input and the test-image gallery (the pineapple photo is a CAMO test image). Right: the controls. Every model runs on the same corrupted image,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inside our model for one test image: the corrupted input, the square network input, the encoder embedding (256 channels on a coarse grid, shown with its first three principal components as colours), the decoder's low-resolution mask, and the final map resized to the original image, then thresholded into the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corrupted COD10K image; columns are the input, the ground truth and six models. Images were chosen by fixed rules (median and worst case for our 512 model), not hand-picked; the selection is logged in results/qualitative_selection.csv. The last two rows show where our model fails: heavy motion blur and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input; middle: SINet-V2; bottom: our 512-pixel model. Our model's score drops as blur grows, but it keeps far more of the object than SINet-V2. Say clearly that this example was picked by a rule and is better than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selected model's mask is drawn as a coloured overlay on the corrupted image, with its latency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'Show ground truth' ticked for a test image, the app draws the ground truth in white and prints each model's per-image S-measure and MAE. Scores on this slide are the ones printed by the app. We show one image where our model wins and one where it does not, to be honest about single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bars are clean scores, dark bars the mean over all 40 corrupted conditions. Ours (1024) beats every specialist model under corruption on COD10K, and the paired bootstrap confirms it (+0.017 over SINet-V2). It stays below SAM2-UNet, which is 20 times larger; we report that honestly. Training on four corruptions also helps on the four unseen ones, by a small but significant amount (95% CI +0.003 to +0.007).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timings were measured on our own RTX 3050 laptop GPU. Ours (512) is the fastest model in the table and uses the least memory, while beating SINet-V2 under corruption (+0.010). SAM-Adapter is the most accurate on clean images but takes about 3.8 s per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Sα over the 40 corrupted conditions on each dataset. On NC4K, Ours (512) beats SINet-V2 by +0.018 (95% CI +0.016 to +0.021). CHAMELEON has only 76 images, so its differences are less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points are not in the literature. COD10K-C (Sayem, arXiv 2606.02603) is the closest work; it has no SAM-based models, no unseen-corruption split and no resolution analysis. Our model is not the most accurate overall, so the claim is robustness per unit of compute, not state of the 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takeaways and the limitations. Offer to run the live demo: python demo/app.py.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40080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3400" b="1" dirty="0">
                <a:solidFill>
                  <a:schemeClr val="tx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CV Mini Project · Ronak Daniel (I015) · Neel Jaiswal (I032)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p:cNvSpPr txBox="1"/>
          <p:nvPr/>
        </p:nvSpPr>
        <p:spPr>
          <a:xfrm>
            <a:off x="548640" y="1188720"/>
            <a:ext cx="6400800" cy="365760"/>
          </a:xfrm>
          <a:prstGeom prst="rect">
            <a:avLst/>
          </a:prstGeom>
          <a:noFill/>
          <a:ln/>
        </p:spPr>
        <p:txBody>
          <a:bodyPr wrap="square" lIns="0" tIns="0" rIns="0" bIns="0" rtlCol="0" anchor="ctr"/>
          <a:lstStyle/>
          <a:p>
            <a:pPr indent="0" marL="0">
              <a:buNone/>
            </a:pPr>
            <a:r>
              <a:rPr lang="en-US" sz="1400" b="1" spc="200" kern="0" dirty="0">
                <a:solidFill>
                  <a:schemeClr val="accent3"/>
                </a:solidFill>
              </a:rPr>
              <a:t>COMPUTER VISION · MINI PROJECT</a:t>
            </a:r>
            <a:endParaRPr lang="en-US" sz="1400" dirty="0"/>
          </a:p>
        </p:txBody>
      </p:sp>
      <p:sp>
        <p:nvSpPr>
          <p:cNvPr id="3" name="Text 0"/>
          <p:cNvSpPr/>
          <p:nvPr>
            <p:ph idx="100" type="title" hasCustomPrompt="1"/>
          </p:nvPr>
        </p:nvSpPr>
        <p:spPr>
          <a:xfrm>
            <a:off x="548640" y="1828800"/>
            <a:ext cx="6400800" cy="173736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Robust Camouflaged Object Detection on a Laptop GPU</a:t>
            </a:r>
            <a:endParaRPr lang="en-US" sz="4000" dirty="0"/>
          </a:p>
        </p:txBody>
      </p:sp>
      <p:sp>
        <p:nvSpPr>
          <p:cNvPr id="4" name="subtitle"/>
          <p:cNvSpPr txBox="1"/>
          <p:nvPr/>
        </p:nvSpPr>
        <p:spPr>
          <a:xfrm>
            <a:off x="548640" y="3611880"/>
            <a:ext cx="6217920" cy="822960"/>
          </a:xfrm>
          <a:prstGeom prst="rect">
            <a:avLst/>
          </a:prstGeom>
          <a:noFill/>
          <a:ln/>
        </p:spPr>
        <p:txBody>
          <a:bodyPr wrap="square" lIns="0" tIns="0" rIns="0" bIns="0" rtlCol="0" anchor="t"/>
          <a:lstStyle/>
          <a:p>
            <a:pPr indent="0" marL="0">
              <a:buNone/>
            </a:pPr>
            <a:r>
              <a:rPr lang="en-US" sz="1800" dirty="0">
                <a:solidFill>
                  <a:schemeClr val="bg2"/>
                </a:solidFill>
              </a:rPr>
              <a:t>A corruption benchmark of specialist and SAM-based detectors, and a lightweight robust SAM adapter</a:t>
            </a:r>
            <a:endParaRPr lang="en-US" sz="1800" dirty="0"/>
          </a:p>
        </p:txBody>
      </p:sp>
      <p:sp>
        <p:nvSpPr>
          <p:cNvPr id="5" name="member 1 card"/>
          <p:cNvSpPr/>
          <p:nvPr/>
        </p:nvSpPr>
        <p:spPr>
          <a:xfrm>
            <a:off x="548640" y="4892040"/>
            <a:ext cx="2606040" cy="960120"/>
          </a:xfrm>
          <a:prstGeom prst="roundRect">
            <a:avLst>
              <a:gd name="adj" fmla="val 7619"/>
            </a:avLst>
          </a:prstGeom>
          <a:solidFill>
            <a:schemeClr val="tx2"/>
          </a:solidFill>
          <a:ln w="12700">
            <a:solidFill>
              <a:schemeClr val="tx2"/>
            </a:solidFill>
            <a:prstDash val="solid"/>
          </a:ln>
        </p:spPr>
      </p:sp>
      <p:sp>
        <p:nvSpPr>
          <p:cNvPr id="6" name="member 1"/>
          <p:cNvSpPr txBox="1"/>
          <p:nvPr/>
        </p:nvSpPr>
        <p:spPr>
          <a:xfrm>
            <a:off x="777240" y="4983480"/>
            <a:ext cx="2194560" cy="777240"/>
          </a:xfrm>
          <a:prstGeom prst="rect">
            <a:avLst/>
          </a:prstGeom>
          <a:noFill/>
          <a:ln/>
        </p:spPr>
        <p:txBody>
          <a:bodyPr wrap="square" lIns="0" tIns="0" rIns="0" bIns="0" rtlCol="0" anchor="ctr"/>
          <a:lstStyle/>
          <a:p>
            <a:pPr indent="0" marL="0">
              <a:buNone/>
            </a:pPr>
            <a:r>
              <a:rPr lang="en-US" sz="1800" b="1" dirty="0">
                <a:solidFill>
                  <a:schemeClr val="bg1"/>
                </a:solidFill>
              </a:rPr>
              <a:t>Ronak Daniel</a:t>
            </a:r>
            <a:endParaRPr lang="en-US" sz="1800" dirty="0"/>
          </a:p>
          <a:p>
            <a:pPr indent="0" marL="0">
              <a:buNone/>
            </a:pPr>
            <a:r>
              <a:rPr lang="en-US" sz="1400" dirty="0">
                <a:solidFill>
                  <a:schemeClr val="accent3"/>
                </a:solidFill>
              </a:rPr>
              <a:t>Roll no. I015</a:t>
            </a:r>
            <a:endParaRPr lang="en-US" sz="1800" dirty="0"/>
          </a:p>
        </p:txBody>
      </p:sp>
      <p:sp>
        <p:nvSpPr>
          <p:cNvPr id="7" name="member 2 card"/>
          <p:cNvSpPr/>
          <p:nvPr/>
        </p:nvSpPr>
        <p:spPr>
          <a:xfrm>
            <a:off x="3383280" y="4892040"/>
            <a:ext cx="2606040" cy="960120"/>
          </a:xfrm>
          <a:prstGeom prst="roundRect">
            <a:avLst>
              <a:gd name="adj" fmla="val 7619"/>
            </a:avLst>
          </a:prstGeom>
          <a:solidFill>
            <a:schemeClr val="tx2"/>
          </a:solidFill>
          <a:ln w="12700">
            <a:solidFill>
              <a:schemeClr val="tx2"/>
            </a:solidFill>
            <a:prstDash val="solid"/>
          </a:ln>
        </p:spPr>
      </p:sp>
      <p:sp>
        <p:nvSpPr>
          <p:cNvPr id="8" name="member 2"/>
          <p:cNvSpPr txBox="1"/>
          <p:nvPr/>
        </p:nvSpPr>
        <p:spPr>
          <a:xfrm>
            <a:off x="3611880" y="4983480"/>
            <a:ext cx="2194560" cy="777240"/>
          </a:xfrm>
          <a:prstGeom prst="rect">
            <a:avLst/>
          </a:prstGeom>
          <a:noFill/>
          <a:ln/>
        </p:spPr>
        <p:txBody>
          <a:bodyPr wrap="square" lIns="0" tIns="0" rIns="0" bIns="0" rtlCol="0" anchor="ctr"/>
          <a:lstStyle/>
          <a:p>
            <a:pPr indent="0" marL="0">
              <a:buNone/>
            </a:pPr>
            <a:r>
              <a:rPr lang="en-US" sz="1800" b="1" dirty="0">
                <a:solidFill>
                  <a:schemeClr val="bg1"/>
                </a:solidFill>
              </a:rPr>
              <a:t>Neel Jaiswal</a:t>
            </a:r>
            <a:endParaRPr lang="en-US" sz="1800" dirty="0"/>
          </a:p>
          <a:p>
            <a:pPr indent="0" marL="0">
              <a:buNone/>
            </a:pPr>
            <a:r>
              <a:rPr lang="en-US" sz="1400" dirty="0">
                <a:solidFill>
                  <a:schemeClr val="accent3"/>
                </a:solidFill>
              </a:rPr>
              <a:t>Roll no. I032</a:t>
            </a:r>
            <a:endParaRPr lang="en-US" sz="1800" dirty="0"/>
          </a:p>
        </p:txBody>
      </p:sp>
      <p:pic>
        <p:nvPicPr>
          <p:cNvPr id="9" name="hero clean" descr="camouflaged flatfish, clean">    </p:cNvPr>
          <p:cNvPicPr>
            <a:picLocks noChangeAspect="1"/>
          </p:cNvPicPr>
          <p:nvPr/>
        </p:nvPicPr>
        <p:blipFill>
          <a:blip r:embed="rId1"/>
          <a:srcRect l="0" r="0" t="0" b="0"/>
          <a:stretch/>
        </p:blipFill>
        <p:spPr>
          <a:xfrm>
            <a:off x="7726680" y="685800"/>
            <a:ext cx="3886200" cy="1554480"/>
          </a:xfrm>
          <a:prstGeom prst="rect">
            <a:avLst/>
          </a:prstGeom>
        </p:spPr>
      </p:pic>
      <p:sp>
        <p:nvSpPr>
          <p:cNvPr id="10" name="hero label 1"/>
          <p:cNvSpPr txBox="1"/>
          <p:nvPr/>
        </p:nvSpPr>
        <p:spPr>
          <a:xfrm>
            <a:off x="7726680" y="2258568"/>
            <a:ext cx="3886200" cy="256032"/>
          </a:xfrm>
          <a:prstGeom prst="rect">
            <a:avLst/>
          </a:prstGeom>
          <a:noFill/>
          <a:ln/>
        </p:spPr>
        <p:txBody>
          <a:bodyPr wrap="square" lIns="0" tIns="0" rIns="0" bIns="0" rtlCol="0" anchor="ctr"/>
          <a:lstStyle/>
          <a:p>
            <a:pPr indent="0" marL="0">
              <a:buNone/>
            </a:pPr>
            <a:r>
              <a:rPr lang="en-US" sz="1100" dirty="0">
                <a:solidFill>
                  <a:schemeClr val="accent3"/>
                </a:solidFill>
              </a:rPr>
              <a:t>clean</a:t>
            </a:r>
            <a:endParaRPr lang="en-US" sz="1100" dirty="0"/>
          </a:p>
        </p:txBody>
      </p:sp>
      <p:pic>
        <p:nvPicPr>
          <p:cNvPr id="11" name="hero fog, severity 5" descr="camouflaged flatfish, fog, severity 5">    </p:cNvPr>
          <p:cNvPicPr>
            <a:picLocks noChangeAspect="1"/>
          </p:cNvPicPr>
          <p:nvPr/>
        </p:nvPicPr>
        <p:blipFill>
          <a:blip r:embed="rId2"/>
          <a:srcRect l="0" r="0" t="0" b="0"/>
          <a:stretch/>
        </p:blipFill>
        <p:spPr>
          <a:xfrm>
            <a:off x="7726680" y="2560320"/>
            <a:ext cx="3886200" cy="1554480"/>
          </a:xfrm>
          <a:prstGeom prst="rect">
            <a:avLst/>
          </a:prstGeom>
        </p:spPr>
      </p:pic>
      <p:sp>
        <p:nvSpPr>
          <p:cNvPr id="12" name="hero label 2"/>
          <p:cNvSpPr txBox="1"/>
          <p:nvPr/>
        </p:nvSpPr>
        <p:spPr>
          <a:xfrm>
            <a:off x="7726680" y="4133088"/>
            <a:ext cx="3886200" cy="256032"/>
          </a:xfrm>
          <a:prstGeom prst="rect">
            <a:avLst/>
          </a:prstGeom>
          <a:noFill/>
          <a:ln/>
        </p:spPr>
        <p:txBody>
          <a:bodyPr wrap="square" lIns="0" tIns="0" rIns="0" bIns="0" rtlCol="0" anchor="ctr"/>
          <a:lstStyle/>
          <a:p>
            <a:pPr indent="0" marL="0">
              <a:buNone/>
            </a:pPr>
            <a:r>
              <a:rPr lang="en-US" sz="1100" dirty="0">
                <a:solidFill>
                  <a:schemeClr val="accent3"/>
                </a:solidFill>
              </a:rPr>
              <a:t>fog, severity 5</a:t>
            </a:r>
            <a:endParaRPr lang="en-US" sz="1100" dirty="0"/>
          </a:p>
        </p:txBody>
      </p:sp>
      <p:pic>
        <p:nvPicPr>
          <p:cNvPr id="13" name="hero rain, severity 5" descr="camouflaged flatfish, rain, severity 5">    </p:cNvPr>
          <p:cNvPicPr>
            <a:picLocks noChangeAspect="1"/>
          </p:cNvPicPr>
          <p:nvPr/>
        </p:nvPicPr>
        <p:blipFill>
          <a:blip r:embed="rId3"/>
          <a:srcRect l="0" r="0" t="0" b="0"/>
          <a:stretch/>
        </p:blipFill>
        <p:spPr>
          <a:xfrm>
            <a:off x="7726680" y="4434840"/>
            <a:ext cx="3886200" cy="1554480"/>
          </a:xfrm>
          <a:prstGeom prst="rect">
            <a:avLst/>
          </a:prstGeom>
        </p:spPr>
      </p:pic>
      <p:sp>
        <p:nvSpPr>
          <p:cNvPr id="14" name="hero label 3"/>
          <p:cNvSpPr txBox="1"/>
          <p:nvPr/>
        </p:nvSpPr>
        <p:spPr>
          <a:xfrm>
            <a:off x="7726680" y="6007608"/>
            <a:ext cx="3886200" cy="256032"/>
          </a:xfrm>
          <a:prstGeom prst="rect">
            <a:avLst/>
          </a:prstGeom>
          <a:noFill/>
          <a:ln/>
        </p:spPr>
        <p:txBody>
          <a:bodyPr wrap="square" lIns="0" tIns="0" rIns="0" bIns="0" rtlCol="0" anchor="ctr"/>
          <a:lstStyle/>
          <a:p>
            <a:pPr indent="0" marL="0">
              <a:buNone/>
            </a:pPr>
            <a:r>
              <a:rPr lang="en-US" sz="1100" dirty="0">
                <a:solidFill>
                  <a:schemeClr val="accent3"/>
                </a:solidFill>
              </a:rPr>
              <a:t>rain, severity 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The problem: hidden animals, imperfect cameras</a:t>
            </a:r>
            <a:endParaRPr lang="en-US" sz="3400" dirty="0"/>
          </a:p>
        </p:txBody>
      </p:sp>
      <p:sp>
        <p:nvSpPr>
          <p:cNvPr id="3" name="problem icon bg 1"/>
          <p:cNvSpPr/>
          <p:nvPr/>
        </p:nvSpPr>
        <p:spPr>
          <a:xfrm>
            <a:off x="548640" y="1417320"/>
            <a:ext cx="731520" cy="731520"/>
          </a:xfrm>
          <a:prstGeom prst="ellipse">
            <a:avLst/>
          </a:prstGeom>
          <a:solidFill>
            <a:schemeClr val="accent1"/>
          </a:solidFill>
          <a:ln w="12700">
            <a:solidFill>
              <a:schemeClr val="accent1"/>
            </a:solidFill>
            <a:prstDash val="solid"/>
          </a:ln>
        </p:spPr>
      </p:sp>
      <p:pic>
        <p:nvPicPr>
          <p:cNvPr id="4" name="problem icon 1" descr="Camouflaged object detection (COD)">    </p:cNvPr>
          <p:cNvPicPr>
            <a:picLocks noChangeAspect="1"/>
          </p:cNvPicPr>
          <p:nvPr/>
        </p:nvPicPr>
        <p:blipFill>
          <a:blip r:embed="rId1"/>
          <a:stretch>
            <a:fillRect/>
          </a:stretch>
        </p:blipFill>
        <p:spPr>
          <a:xfrm>
            <a:off x="731520" y="1600200"/>
            <a:ext cx="365760" cy="365760"/>
          </a:xfrm>
          <a:prstGeom prst="rect">
            <a:avLst/>
          </a:prstGeom>
        </p:spPr>
      </p:pic>
      <p:sp>
        <p:nvSpPr>
          <p:cNvPr id="5" name="problem head 1"/>
          <p:cNvSpPr txBox="1"/>
          <p:nvPr/>
        </p:nvSpPr>
        <p:spPr>
          <a:xfrm>
            <a:off x="1554480" y="1371600"/>
            <a:ext cx="5669280" cy="411480"/>
          </a:xfrm>
          <a:prstGeom prst="rect">
            <a:avLst/>
          </a:prstGeom>
          <a:noFill/>
          <a:ln/>
        </p:spPr>
        <p:txBody>
          <a:bodyPr wrap="square" lIns="0" tIns="0" rIns="0" bIns="0" rtlCol="0" anchor="ctr"/>
          <a:lstStyle/>
          <a:p>
            <a:pPr indent="0" marL="0">
              <a:buNone/>
            </a:pPr>
            <a:r>
              <a:rPr lang="en-US" sz="2000" b="1" dirty="0">
                <a:solidFill>
                  <a:schemeClr val="tx1"/>
                </a:solidFill>
              </a:rPr>
              <a:t>Camouflaged object detection (COD)</a:t>
            </a:r>
            <a:endParaRPr lang="en-US" sz="2000" dirty="0"/>
          </a:p>
        </p:txBody>
      </p:sp>
      <p:sp>
        <p:nvSpPr>
          <p:cNvPr id="6" name="problem body 1"/>
          <p:cNvSpPr txBox="1"/>
          <p:nvPr/>
        </p:nvSpPr>
        <p:spPr>
          <a:xfrm>
            <a:off x="1554480" y="1801368"/>
            <a:ext cx="5669280" cy="914400"/>
          </a:xfrm>
          <a:prstGeom prst="rect">
            <a:avLst/>
          </a:prstGeom>
          <a:noFill/>
          <a:ln/>
        </p:spPr>
        <p:txBody>
          <a:bodyPr wrap="square" lIns="0" tIns="0" rIns="0" bIns="0" rtlCol="0" anchor="t"/>
          <a:lstStyle/>
          <a:p>
            <a:pPr indent="0" marL="0">
              <a:buNone/>
            </a:pPr>
            <a:r>
              <a:rPr lang="en-US" sz="1500" dirty="0">
                <a:solidFill>
                  <a:schemeClr val="tx2"/>
                </a:solidFill>
              </a:rPr>
              <a:t>Find the animal whose colour and texture match its background, and output a pixel mask of it.</a:t>
            </a:r>
            <a:endParaRPr lang="en-US" sz="1500" dirty="0"/>
          </a:p>
        </p:txBody>
      </p:sp>
      <p:sp>
        <p:nvSpPr>
          <p:cNvPr id="7" name="problem icon bg 2"/>
          <p:cNvSpPr/>
          <p:nvPr/>
        </p:nvSpPr>
        <p:spPr>
          <a:xfrm>
            <a:off x="548640" y="3017520"/>
            <a:ext cx="731520" cy="731520"/>
          </a:xfrm>
          <a:prstGeom prst="ellipse">
            <a:avLst/>
          </a:prstGeom>
          <a:solidFill>
            <a:schemeClr val="accent1"/>
          </a:solidFill>
          <a:ln w="12700">
            <a:solidFill>
              <a:schemeClr val="accent1"/>
            </a:solidFill>
            <a:prstDash val="solid"/>
          </a:ln>
        </p:spPr>
      </p:sp>
      <p:pic>
        <p:nvPicPr>
          <p:cNvPr id="8" name="problem icon 2" descr="Real cameras degrade images">    </p:cNvPr>
          <p:cNvPicPr>
            <a:picLocks noChangeAspect="1"/>
          </p:cNvPicPr>
          <p:nvPr/>
        </p:nvPicPr>
        <p:blipFill>
          <a:blip r:embed="rId2"/>
          <a:stretch>
            <a:fillRect/>
          </a:stretch>
        </p:blipFill>
        <p:spPr>
          <a:xfrm>
            <a:off x="731520" y="3200400"/>
            <a:ext cx="365760" cy="365760"/>
          </a:xfrm>
          <a:prstGeom prst="rect">
            <a:avLst/>
          </a:prstGeom>
        </p:spPr>
      </p:pic>
      <p:sp>
        <p:nvSpPr>
          <p:cNvPr id="9" name="problem head 2"/>
          <p:cNvSpPr txBox="1"/>
          <p:nvPr/>
        </p:nvSpPr>
        <p:spPr>
          <a:xfrm>
            <a:off x="1554480" y="2971800"/>
            <a:ext cx="5669280" cy="411480"/>
          </a:xfrm>
          <a:prstGeom prst="rect">
            <a:avLst/>
          </a:prstGeom>
          <a:noFill/>
          <a:ln/>
        </p:spPr>
        <p:txBody>
          <a:bodyPr wrap="square" lIns="0" tIns="0" rIns="0" bIns="0" rtlCol="0" anchor="ctr"/>
          <a:lstStyle/>
          <a:p>
            <a:pPr indent="0" marL="0">
              <a:buNone/>
            </a:pPr>
            <a:r>
              <a:rPr lang="en-US" sz="2000" b="1" dirty="0">
                <a:solidFill>
                  <a:schemeClr val="tx1"/>
                </a:solidFill>
              </a:rPr>
              <a:t>Real cameras degrade images</a:t>
            </a:r>
            <a:endParaRPr lang="en-US" sz="2000" dirty="0"/>
          </a:p>
        </p:txBody>
      </p:sp>
      <p:sp>
        <p:nvSpPr>
          <p:cNvPr id="10" name="problem body 2"/>
          <p:cNvSpPr txBox="1"/>
          <p:nvPr/>
        </p:nvSpPr>
        <p:spPr>
          <a:xfrm>
            <a:off x="1554480" y="3401568"/>
            <a:ext cx="5669280" cy="914400"/>
          </a:xfrm>
          <a:prstGeom prst="rect">
            <a:avLst/>
          </a:prstGeom>
          <a:noFill/>
          <a:ln/>
        </p:spPr>
        <p:txBody>
          <a:bodyPr wrap="square" lIns="0" tIns="0" rIns="0" bIns="0" rtlCol="0" anchor="t"/>
          <a:lstStyle/>
          <a:p>
            <a:pPr indent="0" marL="0">
              <a:buNone/>
            </a:pPr>
            <a:r>
              <a:rPr lang="en-US" sz="1500" dirty="0">
                <a:solidFill>
                  <a:schemeClr val="tx2"/>
                </a:solidFill>
              </a:rPr>
              <a:t>Camera traps, drones and phones add blur, noise, JPEG compression, fog and rain.</a:t>
            </a:r>
            <a:endParaRPr lang="en-US" sz="1500" dirty="0"/>
          </a:p>
        </p:txBody>
      </p:sp>
      <p:sp>
        <p:nvSpPr>
          <p:cNvPr id="11" name="problem icon bg 3"/>
          <p:cNvSpPr/>
          <p:nvPr/>
        </p:nvSpPr>
        <p:spPr>
          <a:xfrm>
            <a:off x="548640" y="4617720"/>
            <a:ext cx="731520" cy="731520"/>
          </a:xfrm>
          <a:prstGeom prst="ellipse">
            <a:avLst/>
          </a:prstGeom>
          <a:solidFill>
            <a:schemeClr val="accent1"/>
          </a:solidFill>
          <a:ln w="12700">
            <a:solidFill>
              <a:schemeClr val="accent1"/>
            </a:solidFill>
            <a:prstDash val="solid"/>
          </a:ln>
        </p:spPr>
      </p:sp>
      <p:pic>
        <p:nvPicPr>
          <p:cNvPr id="12" name="problem icon 3" descr="Open question">    </p:cNvPr>
          <p:cNvPicPr>
            <a:picLocks noChangeAspect="1"/>
          </p:cNvPicPr>
          <p:nvPr/>
        </p:nvPicPr>
        <p:blipFill>
          <a:blip r:embed="rId3"/>
          <a:stretch>
            <a:fillRect/>
          </a:stretch>
        </p:blipFill>
        <p:spPr>
          <a:xfrm>
            <a:off x="731520" y="4800600"/>
            <a:ext cx="365760" cy="365760"/>
          </a:xfrm>
          <a:prstGeom prst="rect">
            <a:avLst/>
          </a:prstGeom>
        </p:spPr>
      </p:pic>
      <p:sp>
        <p:nvSpPr>
          <p:cNvPr id="13" name="problem head 3"/>
          <p:cNvSpPr txBox="1"/>
          <p:nvPr/>
        </p:nvSpPr>
        <p:spPr>
          <a:xfrm>
            <a:off x="1554480" y="4572000"/>
            <a:ext cx="5669280" cy="411480"/>
          </a:xfrm>
          <a:prstGeom prst="rect">
            <a:avLst/>
          </a:prstGeom>
          <a:noFill/>
          <a:ln/>
        </p:spPr>
        <p:txBody>
          <a:bodyPr wrap="square" lIns="0" tIns="0" rIns="0" bIns="0" rtlCol="0" anchor="ctr"/>
          <a:lstStyle/>
          <a:p>
            <a:pPr indent="0" marL="0">
              <a:buNone/>
            </a:pPr>
            <a:r>
              <a:rPr lang="en-US" sz="2000" b="1" dirty="0">
                <a:solidFill>
                  <a:schemeClr val="tx1"/>
                </a:solidFill>
              </a:rPr>
              <a:t>Open question</a:t>
            </a:r>
            <a:endParaRPr lang="en-US" sz="2000" dirty="0"/>
          </a:p>
        </p:txBody>
      </p:sp>
      <p:sp>
        <p:nvSpPr>
          <p:cNvPr id="14" name="problem body 3"/>
          <p:cNvSpPr txBox="1"/>
          <p:nvPr/>
        </p:nvSpPr>
        <p:spPr>
          <a:xfrm>
            <a:off x="1554480" y="5001768"/>
            <a:ext cx="5669280" cy="914400"/>
          </a:xfrm>
          <a:prstGeom prst="rect">
            <a:avLst/>
          </a:prstGeom>
          <a:noFill/>
          <a:ln/>
        </p:spPr>
        <p:txBody>
          <a:bodyPr wrap="square" lIns="0" tIns="0" rIns="0" bIns="0" rtlCol="0" anchor="t"/>
          <a:lstStyle/>
          <a:p>
            <a:pPr indent="0" marL="0">
              <a:buNone/>
            </a:pPr>
            <a:r>
              <a:rPr lang="en-US" sz="1500" dirty="0">
                <a:solidFill>
                  <a:schemeClr val="tx2"/>
                </a:solidFill>
              </a:rPr>
              <a:t>SAM-based detectors are the most accurate on clean images. How robust are they to these corruptions, and can a small model stay robust on a 4 GB laptop GPU?</a:t>
            </a:r>
            <a:endParaRPr lang="en-US" sz="1500" dirty="0"/>
          </a:p>
        </p:txBody>
      </p:sp>
      <p:sp>
        <p:nvSpPr>
          <p:cNvPr id="15" name="stat corruptions card"/>
          <p:cNvSpPr/>
          <p:nvPr/>
        </p:nvSpPr>
        <p:spPr>
          <a:xfrm>
            <a:off x="7818120" y="1417320"/>
            <a:ext cx="3822192" cy="1325880"/>
          </a:xfrm>
          <a:prstGeom prst="roundRect">
            <a:avLst>
              <a:gd name="adj" fmla="val 5517"/>
            </a:avLst>
          </a:prstGeom>
          <a:solidFill>
            <a:schemeClr val="bg2"/>
          </a:solidFill>
          <a:ln w="12700">
            <a:solidFill>
              <a:schemeClr val="bg2"/>
            </a:solidFill>
            <a:prstDash val="solid"/>
          </a:ln>
        </p:spPr>
      </p:sp>
      <p:sp>
        <p:nvSpPr>
          <p:cNvPr id="16" name="stat corruptions value"/>
          <p:cNvSpPr txBox="1"/>
          <p:nvPr/>
        </p:nvSpPr>
        <p:spPr>
          <a:xfrm>
            <a:off x="8046720" y="1527048"/>
            <a:ext cx="3364992"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8 × 5</a:t>
            </a:r>
            <a:endParaRPr lang="en-US" sz="3200" dirty="0"/>
          </a:p>
        </p:txBody>
      </p:sp>
      <p:sp>
        <p:nvSpPr>
          <p:cNvPr id="17" name="stat corruptions label"/>
          <p:cNvSpPr txBox="1"/>
          <p:nvPr/>
        </p:nvSpPr>
        <p:spPr>
          <a:xfrm>
            <a:off x="8046720" y="2194560"/>
            <a:ext cx="3364992" cy="457200"/>
          </a:xfrm>
          <a:prstGeom prst="rect">
            <a:avLst/>
          </a:prstGeom>
          <a:noFill/>
          <a:ln/>
        </p:spPr>
        <p:txBody>
          <a:bodyPr wrap="square" lIns="0" tIns="0" rIns="0" bIns="0" rtlCol="0" anchor="t"/>
          <a:lstStyle/>
          <a:p>
            <a:pPr indent="0" marL="0">
              <a:buNone/>
            </a:pPr>
            <a:r>
              <a:rPr lang="en-US" sz="1400" dirty="0">
                <a:solidFill>
                  <a:schemeClr val="tx2"/>
                </a:solidFill>
              </a:rPr>
              <a:t>corruption types × severity levels</a:t>
            </a:r>
            <a:endParaRPr lang="en-US" sz="1400" dirty="0"/>
          </a:p>
        </p:txBody>
      </p:sp>
      <p:sp>
        <p:nvSpPr>
          <p:cNvPr id="18" name="stat images card"/>
          <p:cNvSpPr/>
          <p:nvPr/>
        </p:nvSpPr>
        <p:spPr>
          <a:xfrm>
            <a:off x="7818120" y="3017520"/>
            <a:ext cx="3822192" cy="1325880"/>
          </a:xfrm>
          <a:prstGeom prst="roundRect">
            <a:avLst>
              <a:gd name="adj" fmla="val 5517"/>
            </a:avLst>
          </a:prstGeom>
          <a:solidFill>
            <a:schemeClr val="bg2"/>
          </a:solidFill>
          <a:ln w="12700">
            <a:solidFill>
              <a:schemeClr val="bg2"/>
            </a:solidFill>
            <a:prstDash val="solid"/>
          </a:ln>
        </p:spPr>
      </p:sp>
      <p:sp>
        <p:nvSpPr>
          <p:cNvPr id="19" name="stat images value"/>
          <p:cNvSpPr txBox="1"/>
          <p:nvPr/>
        </p:nvSpPr>
        <p:spPr>
          <a:xfrm>
            <a:off x="8046720" y="3127248"/>
            <a:ext cx="3364992"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6,473</a:t>
            </a:r>
            <a:endParaRPr lang="en-US" sz="3200" dirty="0"/>
          </a:p>
        </p:txBody>
      </p:sp>
      <p:sp>
        <p:nvSpPr>
          <p:cNvPr id="20" name="stat images label"/>
          <p:cNvSpPr txBox="1"/>
          <p:nvPr/>
        </p:nvSpPr>
        <p:spPr>
          <a:xfrm>
            <a:off x="8046720" y="3794760"/>
            <a:ext cx="3364992" cy="457200"/>
          </a:xfrm>
          <a:prstGeom prst="rect">
            <a:avLst/>
          </a:prstGeom>
          <a:noFill/>
          <a:ln/>
        </p:spPr>
        <p:txBody>
          <a:bodyPr wrap="square" lIns="0" tIns="0" rIns="0" bIns="0" rtlCol="0" anchor="t"/>
          <a:lstStyle/>
          <a:p>
            <a:pPr indent="0" marL="0">
              <a:buNone/>
            </a:pPr>
            <a:r>
              <a:rPr lang="en-US" sz="1400" dirty="0">
                <a:solidFill>
                  <a:schemeClr val="tx2"/>
                </a:solidFill>
              </a:rPr>
              <a:t>test images in 4 datasets</a:t>
            </a:r>
            <a:endParaRPr lang="en-US" sz="1400" dirty="0"/>
          </a:p>
        </p:txBody>
      </p:sp>
      <p:sp>
        <p:nvSpPr>
          <p:cNvPr id="21" name="stat gpu card"/>
          <p:cNvSpPr/>
          <p:nvPr/>
        </p:nvSpPr>
        <p:spPr>
          <a:xfrm>
            <a:off x="7818120" y="4617720"/>
            <a:ext cx="3822192" cy="1325880"/>
          </a:xfrm>
          <a:prstGeom prst="roundRect">
            <a:avLst>
              <a:gd name="adj" fmla="val 5517"/>
            </a:avLst>
          </a:prstGeom>
          <a:solidFill>
            <a:schemeClr val="bg2"/>
          </a:solidFill>
          <a:ln w="12700">
            <a:solidFill>
              <a:schemeClr val="bg2"/>
            </a:solidFill>
            <a:prstDash val="solid"/>
          </a:ln>
        </p:spPr>
      </p:sp>
      <p:sp>
        <p:nvSpPr>
          <p:cNvPr id="22" name="stat gpu value"/>
          <p:cNvSpPr txBox="1"/>
          <p:nvPr/>
        </p:nvSpPr>
        <p:spPr>
          <a:xfrm>
            <a:off x="8046720" y="4727448"/>
            <a:ext cx="3364992"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4 GB</a:t>
            </a:r>
            <a:endParaRPr lang="en-US" sz="3200" dirty="0"/>
          </a:p>
        </p:txBody>
      </p:sp>
      <p:sp>
        <p:nvSpPr>
          <p:cNvPr id="23" name="stat gpu label"/>
          <p:cNvSpPr txBox="1"/>
          <p:nvPr/>
        </p:nvSpPr>
        <p:spPr>
          <a:xfrm>
            <a:off x="8046720" y="5394960"/>
            <a:ext cx="3364992" cy="457200"/>
          </a:xfrm>
          <a:prstGeom prst="rect">
            <a:avLst/>
          </a:prstGeom>
          <a:noFill/>
          <a:ln/>
        </p:spPr>
        <p:txBody>
          <a:bodyPr wrap="square" lIns="0" tIns="0" rIns="0" bIns="0" rtlCol="0" anchor="t"/>
          <a:lstStyle/>
          <a:p>
            <a:pPr indent="0" marL="0">
              <a:buNone/>
            </a:pPr>
            <a:r>
              <a:rPr lang="en-US" sz="1400" dirty="0">
                <a:solidFill>
                  <a:schemeClr val="tx2"/>
                </a:solidFill>
              </a:rPr>
              <a:t>laptop GPU (RTX 3050 Laptop GPU)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Implementation pipeline</a:t>
            </a:r>
            <a:endParaRPr lang="en-US" sz="3400" dirty="0"/>
          </a:p>
        </p:txBody>
      </p:sp>
      <p:sp>
        <p:nvSpPr>
          <p:cNvPr id="3" name="step 1"/>
          <p:cNvSpPr/>
          <p:nvPr/>
        </p:nvSpPr>
        <p:spPr>
          <a:xfrm>
            <a:off x="548640" y="1325880"/>
            <a:ext cx="3291840" cy="2057400"/>
          </a:xfrm>
          <a:prstGeom prst="roundRect">
            <a:avLst>
              <a:gd name="adj" fmla="val 3556"/>
            </a:avLst>
          </a:prstGeom>
          <a:solidFill>
            <a:schemeClr val="bg2"/>
          </a:solidFill>
          <a:ln w="12700">
            <a:solidFill>
              <a:schemeClr val="bg2"/>
            </a:solidFill>
            <a:prstDash val="solid"/>
          </a:ln>
        </p:spPr>
      </p:sp>
      <p:sp>
        <p:nvSpPr>
          <p:cNvPr id="4" name="step icon bg 1"/>
          <p:cNvSpPr/>
          <p:nvPr/>
        </p:nvSpPr>
        <p:spPr>
          <a:xfrm>
            <a:off x="777240" y="1554480"/>
            <a:ext cx="548640" cy="548640"/>
          </a:xfrm>
          <a:prstGeom prst="ellipse">
            <a:avLst/>
          </a:prstGeom>
          <a:solidFill>
            <a:schemeClr val="accent1"/>
          </a:solidFill>
          <a:ln w="12700">
            <a:solidFill>
              <a:schemeClr val="accent1"/>
            </a:solidFill>
            <a:prstDash val="solid"/>
          </a:ln>
        </p:spPr>
      </p:sp>
      <p:pic>
        <p:nvPicPr>
          <p:cNvPr id="5" name="step icon 1" descr="1  Data">    </p:cNvPr>
          <p:cNvPicPr>
            <a:picLocks noChangeAspect="1"/>
          </p:cNvPicPr>
          <p:nvPr/>
        </p:nvPicPr>
        <p:blipFill>
          <a:blip r:embed="rId1"/>
          <a:stretch>
            <a:fillRect/>
          </a:stretch>
        </p:blipFill>
        <p:spPr>
          <a:xfrm>
            <a:off x="914400" y="1691640"/>
            <a:ext cx="274320" cy="274320"/>
          </a:xfrm>
          <a:prstGeom prst="rect">
            <a:avLst/>
          </a:prstGeom>
        </p:spPr>
      </p:pic>
      <p:sp>
        <p:nvSpPr>
          <p:cNvPr id="6" name="step head 1"/>
          <p:cNvSpPr txBox="1"/>
          <p:nvPr/>
        </p:nvSpPr>
        <p:spPr>
          <a:xfrm>
            <a:off x="1463040" y="1554480"/>
            <a:ext cx="2194560" cy="548640"/>
          </a:xfrm>
          <a:prstGeom prst="rect">
            <a:avLst/>
          </a:prstGeom>
          <a:noFill/>
          <a:ln/>
        </p:spPr>
        <p:txBody>
          <a:bodyPr wrap="square" lIns="0" tIns="0" rIns="0" bIns="0" rtlCol="0" anchor="ctr"/>
          <a:lstStyle/>
          <a:p>
            <a:pPr indent="0" marL="0">
              <a:buNone/>
            </a:pPr>
            <a:r>
              <a:rPr lang="en-US" sz="1900" b="1" dirty="0">
                <a:solidFill>
                  <a:schemeClr val="tx1"/>
                </a:solidFill>
              </a:rPr>
              <a:t>1  Data</a:t>
            </a:r>
            <a:endParaRPr lang="en-US" sz="1900" dirty="0"/>
          </a:p>
        </p:txBody>
      </p:sp>
      <p:sp>
        <p:nvSpPr>
          <p:cNvPr id="7" name="step body 1"/>
          <p:cNvSpPr txBox="1"/>
          <p:nvPr/>
        </p:nvSpPr>
        <p:spPr>
          <a:xfrm>
            <a:off x="777240" y="2240280"/>
            <a:ext cx="2834640" cy="1005840"/>
          </a:xfrm>
          <a:prstGeom prst="rect">
            <a:avLst/>
          </a:prstGeom>
          <a:noFill/>
          <a:ln/>
        </p:spPr>
        <p:txBody>
          <a:bodyPr wrap="square" lIns="0" tIns="0" rIns="0" bIns="0" rtlCol="0" anchor="t"/>
          <a:lstStyle/>
          <a:p>
            <a:pPr indent="0" marL="0">
              <a:buNone/>
            </a:pPr>
            <a:r>
              <a:rPr lang="en-US" sz="1400" dirty="0">
                <a:solidFill>
                  <a:schemeClr val="tx2"/>
                </a:solidFill>
              </a:rPr>
              <a:t>COD10K + CAMO train (4,040 images). Test: CHAMELEON, CAMO, COD10K, NC4K</a:t>
            </a:r>
            <a:endParaRPr lang="en-US" sz="1400" dirty="0"/>
          </a:p>
        </p:txBody>
      </p:sp>
      <p:sp>
        <p:nvSpPr>
          <p:cNvPr id="8" name="arrow 1"/>
          <p:cNvSpPr/>
          <p:nvPr/>
        </p:nvSpPr>
        <p:spPr>
          <a:xfrm>
            <a:off x="3931920" y="2217420"/>
            <a:ext cx="426568" cy="274320"/>
          </a:xfrm>
          <a:prstGeom prst="rightArrow">
            <a:avLst/>
          </a:prstGeom>
          <a:solidFill>
            <a:schemeClr val="accent6"/>
          </a:solidFill>
          <a:ln w="12700">
            <a:solidFill>
              <a:schemeClr val="accent6"/>
            </a:solidFill>
            <a:prstDash val="solid"/>
          </a:ln>
        </p:spPr>
      </p:sp>
      <p:sp>
        <p:nvSpPr>
          <p:cNvPr id="9" name="step 2"/>
          <p:cNvSpPr/>
          <p:nvPr/>
        </p:nvSpPr>
        <p:spPr>
          <a:xfrm>
            <a:off x="4449928" y="1325880"/>
            <a:ext cx="3291840" cy="2057400"/>
          </a:xfrm>
          <a:prstGeom prst="roundRect">
            <a:avLst>
              <a:gd name="adj" fmla="val 3556"/>
            </a:avLst>
          </a:prstGeom>
          <a:solidFill>
            <a:schemeClr val="bg2"/>
          </a:solidFill>
          <a:ln w="12700">
            <a:solidFill>
              <a:schemeClr val="bg2"/>
            </a:solidFill>
            <a:prstDash val="solid"/>
          </a:ln>
        </p:spPr>
      </p:sp>
      <p:sp>
        <p:nvSpPr>
          <p:cNvPr id="10" name="step icon bg 2"/>
          <p:cNvSpPr/>
          <p:nvPr/>
        </p:nvSpPr>
        <p:spPr>
          <a:xfrm>
            <a:off x="4678528" y="1554480"/>
            <a:ext cx="548640" cy="548640"/>
          </a:xfrm>
          <a:prstGeom prst="ellipse">
            <a:avLst/>
          </a:prstGeom>
          <a:solidFill>
            <a:schemeClr val="accent1"/>
          </a:solidFill>
          <a:ln w="12700">
            <a:solidFill>
              <a:schemeClr val="accent1"/>
            </a:solidFill>
            <a:prstDash val="solid"/>
          </a:ln>
        </p:spPr>
      </p:sp>
      <p:pic>
        <p:nvPicPr>
          <p:cNvPr id="11" name="step icon 2" descr="2  Corruptions">    </p:cNvPr>
          <p:cNvPicPr>
            <a:picLocks noChangeAspect="1"/>
          </p:cNvPicPr>
          <p:nvPr/>
        </p:nvPicPr>
        <p:blipFill>
          <a:blip r:embed="rId2"/>
          <a:stretch>
            <a:fillRect/>
          </a:stretch>
        </p:blipFill>
        <p:spPr>
          <a:xfrm>
            <a:off x="4815688" y="1691640"/>
            <a:ext cx="274320" cy="274320"/>
          </a:xfrm>
          <a:prstGeom prst="rect">
            <a:avLst/>
          </a:prstGeom>
        </p:spPr>
      </p:pic>
      <p:sp>
        <p:nvSpPr>
          <p:cNvPr id="12" name="step head 2"/>
          <p:cNvSpPr txBox="1"/>
          <p:nvPr/>
        </p:nvSpPr>
        <p:spPr>
          <a:xfrm>
            <a:off x="5364328" y="1554480"/>
            <a:ext cx="2194560" cy="548640"/>
          </a:xfrm>
          <a:prstGeom prst="rect">
            <a:avLst/>
          </a:prstGeom>
          <a:noFill/>
          <a:ln/>
        </p:spPr>
        <p:txBody>
          <a:bodyPr wrap="square" lIns="0" tIns="0" rIns="0" bIns="0" rtlCol="0" anchor="ctr"/>
          <a:lstStyle/>
          <a:p>
            <a:pPr indent="0" marL="0">
              <a:buNone/>
            </a:pPr>
            <a:r>
              <a:rPr lang="en-US" sz="1900" b="1" dirty="0">
                <a:solidFill>
                  <a:schemeClr val="tx1"/>
                </a:solidFill>
              </a:rPr>
              <a:t>2  Corruptions</a:t>
            </a:r>
            <a:endParaRPr lang="en-US" sz="1900" dirty="0"/>
          </a:p>
        </p:txBody>
      </p:sp>
      <p:sp>
        <p:nvSpPr>
          <p:cNvPr id="13" name="step body 2"/>
          <p:cNvSpPr txBox="1"/>
          <p:nvPr/>
        </p:nvSpPr>
        <p:spPr>
          <a:xfrm>
            <a:off x="4678528" y="2240280"/>
            <a:ext cx="2834640" cy="1005840"/>
          </a:xfrm>
          <a:prstGeom prst="rect">
            <a:avLst/>
          </a:prstGeom>
          <a:noFill/>
          <a:ln/>
        </p:spPr>
        <p:txBody>
          <a:bodyPr wrap="square" lIns="0" tIns="0" rIns="0" bIns="0" rtlCol="0" anchor="t"/>
          <a:lstStyle/>
          <a:p>
            <a:pPr indent="0" marL="0">
              <a:buNone/>
            </a:pPr>
            <a:r>
              <a:rPr lang="en-US" sz="1400" dirty="0">
                <a:solidFill>
                  <a:schemeClr val="tx2"/>
                </a:solidFill>
              </a:rPr>
              <a:t>8 types × 5 severities with fixed seeds. 4 seen in training, 4 held out (unseen)</a:t>
            </a:r>
            <a:endParaRPr lang="en-US" sz="1400" dirty="0"/>
          </a:p>
        </p:txBody>
      </p:sp>
      <p:sp>
        <p:nvSpPr>
          <p:cNvPr id="14" name="arrow 2"/>
          <p:cNvSpPr/>
          <p:nvPr/>
        </p:nvSpPr>
        <p:spPr>
          <a:xfrm>
            <a:off x="7833208" y="2217420"/>
            <a:ext cx="426568" cy="274320"/>
          </a:xfrm>
          <a:prstGeom prst="rightArrow">
            <a:avLst/>
          </a:prstGeom>
          <a:solidFill>
            <a:schemeClr val="accent6"/>
          </a:solidFill>
          <a:ln w="12700">
            <a:solidFill>
              <a:schemeClr val="accent6"/>
            </a:solidFill>
            <a:prstDash val="solid"/>
          </a:ln>
        </p:spPr>
      </p:sp>
      <p:sp>
        <p:nvSpPr>
          <p:cNvPr id="15" name="step 3"/>
          <p:cNvSpPr/>
          <p:nvPr/>
        </p:nvSpPr>
        <p:spPr>
          <a:xfrm>
            <a:off x="8351215" y="1325880"/>
            <a:ext cx="3291840" cy="2057400"/>
          </a:xfrm>
          <a:prstGeom prst="roundRect">
            <a:avLst>
              <a:gd name="adj" fmla="val 3556"/>
            </a:avLst>
          </a:prstGeom>
          <a:solidFill>
            <a:schemeClr val="bg2"/>
          </a:solidFill>
          <a:ln w="12700">
            <a:solidFill>
              <a:schemeClr val="bg2"/>
            </a:solidFill>
            <a:prstDash val="solid"/>
          </a:ln>
        </p:spPr>
      </p:sp>
      <p:sp>
        <p:nvSpPr>
          <p:cNvPr id="16" name="step icon bg 3"/>
          <p:cNvSpPr/>
          <p:nvPr/>
        </p:nvSpPr>
        <p:spPr>
          <a:xfrm>
            <a:off x="8579815" y="1554480"/>
            <a:ext cx="548640" cy="548640"/>
          </a:xfrm>
          <a:prstGeom prst="ellipse">
            <a:avLst/>
          </a:prstGeom>
          <a:solidFill>
            <a:schemeClr val="accent1"/>
          </a:solidFill>
          <a:ln w="12700">
            <a:solidFill>
              <a:schemeClr val="accent1"/>
            </a:solidFill>
            <a:prstDash val="solid"/>
          </a:ln>
        </p:spPr>
      </p:sp>
      <p:pic>
        <p:nvPicPr>
          <p:cNvPr id="17" name="step icon 3" descr="3  Baselines">    </p:cNvPr>
          <p:cNvPicPr>
            <a:picLocks noChangeAspect="1"/>
          </p:cNvPicPr>
          <p:nvPr/>
        </p:nvPicPr>
        <p:blipFill>
          <a:blip r:embed="rId3"/>
          <a:stretch>
            <a:fillRect/>
          </a:stretch>
        </p:blipFill>
        <p:spPr>
          <a:xfrm>
            <a:off x="8716975" y="1691640"/>
            <a:ext cx="274320" cy="274320"/>
          </a:xfrm>
          <a:prstGeom prst="rect">
            <a:avLst/>
          </a:prstGeom>
        </p:spPr>
      </p:pic>
      <p:sp>
        <p:nvSpPr>
          <p:cNvPr id="18" name="step head 3"/>
          <p:cNvSpPr txBox="1"/>
          <p:nvPr/>
        </p:nvSpPr>
        <p:spPr>
          <a:xfrm>
            <a:off x="9265615" y="1554480"/>
            <a:ext cx="2194560" cy="548640"/>
          </a:xfrm>
          <a:prstGeom prst="rect">
            <a:avLst/>
          </a:prstGeom>
          <a:noFill/>
          <a:ln/>
        </p:spPr>
        <p:txBody>
          <a:bodyPr wrap="square" lIns="0" tIns="0" rIns="0" bIns="0" rtlCol="0" anchor="ctr"/>
          <a:lstStyle/>
          <a:p>
            <a:pPr indent="0" marL="0">
              <a:buNone/>
            </a:pPr>
            <a:r>
              <a:rPr lang="en-US" sz="1900" b="1" dirty="0">
                <a:solidFill>
                  <a:schemeClr val="tx1"/>
                </a:solidFill>
              </a:rPr>
              <a:t>3  Baselines</a:t>
            </a:r>
            <a:endParaRPr lang="en-US" sz="1900" dirty="0"/>
          </a:p>
        </p:txBody>
      </p:sp>
      <p:sp>
        <p:nvSpPr>
          <p:cNvPr id="19" name="step body 3"/>
          <p:cNvSpPr txBox="1"/>
          <p:nvPr/>
        </p:nvSpPr>
        <p:spPr>
          <a:xfrm>
            <a:off x="8579815" y="2240280"/>
            <a:ext cx="2834640" cy="1005840"/>
          </a:xfrm>
          <a:prstGeom prst="rect">
            <a:avLst/>
          </a:prstGeom>
          <a:noFill/>
          <a:ln/>
        </p:spPr>
        <p:txBody>
          <a:bodyPr wrap="square" lIns="0" tIns="0" rIns="0" bIns="0" rtlCol="0" anchor="t"/>
          <a:lstStyle/>
          <a:p>
            <a:pPr indent="0" marL="0">
              <a:buNone/>
            </a:pPr>
            <a:r>
              <a:rPr lang="en-US" sz="1400" dirty="0">
                <a:solidFill>
                  <a:schemeClr val="tx2"/>
                </a:solidFill>
              </a:rPr>
              <a:t>6 published models ported to one interface: predict(image) → mask</a:t>
            </a:r>
            <a:endParaRPr lang="en-US" sz="1400" dirty="0"/>
          </a:p>
        </p:txBody>
      </p:sp>
      <p:sp>
        <p:nvSpPr>
          <p:cNvPr id="20" name="step 4"/>
          <p:cNvSpPr/>
          <p:nvPr/>
        </p:nvSpPr>
        <p:spPr>
          <a:xfrm>
            <a:off x="548640" y="3794760"/>
            <a:ext cx="3291840" cy="2057400"/>
          </a:xfrm>
          <a:prstGeom prst="roundRect">
            <a:avLst>
              <a:gd name="adj" fmla="val 3556"/>
            </a:avLst>
          </a:prstGeom>
          <a:solidFill>
            <a:schemeClr val="bg2"/>
          </a:solidFill>
          <a:ln w="12700">
            <a:solidFill>
              <a:schemeClr val="bg2"/>
            </a:solidFill>
            <a:prstDash val="solid"/>
          </a:ln>
        </p:spPr>
      </p:sp>
      <p:sp>
        <p:nvSpPr>
          <p:cNvPr id="21" name="step icon bg 4"/>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22" name="step icon 4" descr="4  Our model">    </p:cNvPr>
          <p:cNvPicPr>
            <a:picLocks noChangeAspect="1"/>
          </p:cNvPicPr>
          <p:nvPr/>
        </p:nvPicPr>
        <p:blipFill>
          <a:blip r:embed="rId4"/>
          <a:stretch>
            <a:fillRect/>
          </a:stretch>
        </p:blipFill>
        <p:spPr>
          <a:xfrm>
            <a:off x="914400" y="4160520"/>
            <a:ext cx="274320" cy="274320"/>
          </a:xfrm>
          <a:prstGeom prst="rect">
            <a:avLst/>
          </a:prstGeom>
        </p:spPr>
      </p:pic>
      <p:sp>
        <p:nvSpPr>
          <p:cNvPr id="23" name="step head 4"/>
          <p:cNvSpPr txBox="1"/>
          <p:nvPr/>
        </p:nvSpPr>
        <p:spPr>
          <a:xfrm>
            <a:off x="1463040" y="4023360"/>
            <a:ext cx="2194560" cy="548640"/>
          </a:xfrm>
          <a:prstGeom prst="rect">
            <a:avLst/>
          </a:prstGeom>
          <a:noFill/>
          <a:ln/>
        </p:spPr>
        <p:txBody>
          <a:bodyPr wrap="square" lIns="0" tIns="0" rIns="0" bIns="0" rtlCol="0" anchor="ctr"/>
          <a:lstStyle/>
          <a:p>
            <a:pPr indent="0" marL="0">
              <a:buNone/>
            </a:pPr>
            <a:r>
              <a:rPr lang="en-US" sz="1900" b="1" dirty="0">
                <a:solidFill>
                  <a:schemeClr val="tx1"/>
                </a:solidFill>
              </a:rPr>
              <a:t>4  Our model</a:t>
            </a:r>
            <a:endParaRPr lang="en-US" sz="1900" dirty="0"/>
          </a:p>
        </p:txBody>
      </p:sp>
      <p:sp>
        <p:nvSpPr>
          <p:cNvPr id="24" name="step body 4"/>
          <p:cNvSpPr txBox="1"/>
          <p:nvPr/>
        </p:nvSpPr>
        <p:spPr>
          <a:xfrm>
            <a:off x="777240" y="4709160"/>
            <a:ext cx="2834640" cy="1005840"/>
          </a:xfrm>
          <a:prstGeom prst="rect">
            <a:avLst/>
          </a:prstGeom>
          <a:noFill/>
          <a:ln/>
        </p:spPr>
        <p:txBody>
          <a:bodyPr wrap="square" lIns="0" tIns="0" rIns="0" bIns="0" rtlCol="0" anchor="t"/>
          <a:lstStyle/>
          <a:p>
            <a:pPr indent="0" marL="0">
              <a:buNone/>
            </a:pPr>
            <a:r>
              <a:rPr lang="en-US" sz="1400" dirty="0">
                <a:solidFill>
                  <a:schemeClr val="tx2"/>
                </a:solidFill>
              </a:rPr>
              <a:t>Frozen MobileSAM encoder + adapters + learned prompts, trained on the laptop GPU</a:t>
            </a:r>
            <a:endParaRPr lang="en-US" sz="1400" dirty="0"/>
          </a:p>
        </p:txBody>
      </p:sp>
      <p:sp>
        <p:nvSpPr>
          <p:cNvPr id="25" name="arrow 4"/>
          <p:cNvSpPr/>
          <p:nvPr/>
        </p:nvSpPr>
        <p:spPr>
          <a:xfrm>
            <a:off x="3931920" y="4686300"/>
            <a:ext cx="426568" cy="274320"/>
          </a:xfrm>
          <a:prstGeom prst="rightArrow">
            <a:avLst/>
          </a:prstGeom>
          <a:solidFill>
            <a:schemeClr val="accent6"/>
          </a:solidFill>
          <a:ln w="12700">
            <a:solidFill>
              <a:schemeClr val="accent6"/>
            </a:solidFill>
            <a:prstDash val="solid"/>
          </a:ln>
        </p:spPr>
      </p:sp>
      <p:sp>
        <p:nvSpPr>
          <p:cNvPr id="26" name="step 5"/>
          <p:cNvSpPr/>
          <p:nvPr/>
        </p:nvSpPr>
        <p:spPr>
          <a:xfrm>
            <a:off x="4449928" y="3794760"/>
            <a:ext cx="3291840" cy="2057400"/>
          </a:xfrm>
          <a:prstGeom prst="roundRect">
            <a:avLst>
              <a:gd name="adj" fmla="val 3556"/>
            </a:avLst>
          </a:prstGeom>
          <a:solidFill>
            <a:schemeClr val="bg2"/>
          </a:solidFill>
          <a:ln w="12700">
            <a:solidFill>
              <a:schemeClr val="bg2"/>
            </a:solidFill>
            <a:prstDash val="solid"/>
          </a:ln>
        </p:spPr>
      </p:sp>
      <p:sp>
        <p:nvSpPr>
          <p:cNvPr id="27" name="step icon bg 5"/>
          <p:cNvSpPr/>
          <p:nvPr/>
        </p:nvSpPr>
        <p:spPr>
          <a:xfrm>
            <a:off x="4678528" y="4023360"/>
            <a:ext cx="548640" cy="548640"/>
          </a:xfrm>
          <a:prstGeom prst="ellipse">
            <a:avLst/>
          </a:prstGeom>
          <a:solidFill>
            <a:schemeClr val="accent1"/>
          </a:solidFill>
          <a:ln w="12700">
            <a:solidFill>
              <a:schemeClr val="accent1"/>
            </a:solidFill>
            <a:prstDash val="solid"/>
          </a:ln>
        </p:spPr>
      </p:sp>
      <p:pic>
        <p:nvPicPr>
          <p:cNvPr id="28" name="step icon 5" descr="5  Evaluation">    </p:cNvPr>
          <p:cNvPicPr>
            <a:picLocks noChangeAspect="1"/>
          </p:cNvPicPr>
          <p:nvPr/>
        </p:nvPicPr>
        <p:blipFill>
          <a:blip r:embed="rId5"/>
          <a:stretch>
            <a:fillRect/>
          </a:stretch>
        </p:blipFill>
        <p:spPr>
          <a:xfrm>
            <a:off x="4815688" y="4160520"/>
            <a:ext cx="274320" cy="274320"/>
          </a:xfrm>
          <a:prstGeom prst="rect">
            <a:avLst/>
          </a:prstGeom>
        </p:spPr>
      </p:pic>
      <p:sp>
        <p:nvSpPr>
          <p:cNvPr id="29" name="step head 5"/>
          <p:cNvSpPr txBox="1"/>
          <p:nvPr/>
        </p:nvSpPr>
        <p:spPr>
          <a:xfrm>
            <a:off x="5364328" y="4023360"/>
            <a:ext cx="2194560" cy="548640"/>
          </a:xfrm>
          <a:prstGeom prst="rect">
            <a:avLst/>
          </a:prstGeom>
          <a:noFill/>
          <a:ln/>
        </p:spPr>
        <p:txBody>
          <a:bodyPr wrap="square" lIns="0" tIns="0" rIns="0" bIns="0" rtlCol="0" anchor="ctr"/>
          <a:lstStyle/>
          <a:p>
            <a:pPr indent="0" marL="0">
              <a:buNone/>
            </a:pPr>
            <a:r>
              <a:rPr lang="en-US" sz="1900" b="1" dirty="0">
                <a:solidFill>
                  <a:schemeClr val="tx1"/>
                </a:solidFill>
              </a:rPr>
              <a:t>5  Evaluation</a:t>
            </a:r>
            <a:endParaRPr lang="en-US" sz="1900" dirty="0"/>
          </a:p>
        </p:txBody>
      </p:sp>
      <p:sp>
        <p:nvSpPr>
          <p:cNvPr id="30" name="step body 5"/>
          <p:cNvSpPr txBox="1"/>
          <p:nvPr/>
        </p:nvSpPr>
        <p:spPr>
          <a:xfrm>
            <a:off x="4678528" y="4709160"/>
            <a:ext cx="2834640" cy="1005840"/>
          </a:xfrm>
          <a:prstGeom prst="rect">
            <a:avLst/>
          </a:prstGeom>
          <a:noFill/>
          <a:ln/>
        </p:spPr>
        <p:txBody>
          <a:bodyPr wrap="square" lIns="0" tIns="0" rIns="0" bIns="0" rtlCol="0" anchor="t"/>
          <a:lstStyle/>
          <a:p>
            <a:pPr indent="0" marL="0">
              <a:buNone/>
            </a:pPr>
            <a:r>
              <a:rPr lang="en-US" sz="1400" dirty="0">
                <a:solidFill>
                  <a:schemeClr val="tx2"/>
                </a:solidFill>
              </a:rPr>
              <a:t>Every model × dataset × 41 conditions (clean + 40). Sα, Eφ, Fβw, MAE, Dice, IoU</a:t>
            </a:r>
            <a:endParaRPr lang="en-US" sz="1400" dirty="0"/>
          </a:p>
        </p:txBody>
      </p:sp>
      <p:sp>
        <p:nvSpPr>
          <p:cNvPr id="31" name="arrow 5"/>
          <p:cNvSpPr/>
          <p:nvPr/>
        </p:nvSpPr>
        <p:spPr>
          <a:xfrm>
            <a:off x="7833208" y="4686300"/>
            <a:ext cx="426568" cy="274320"/>
          </a:xfrm>
          <a:prstGeom prst="rightArrow">
            <a:avLst/>
          </a:prstGeom>
          <a:solidFill>
            <a:schemeClr val="accent6"/>
          </a:solidFill>
          <a:ln w="12700">
            <a:solidFill>
              <a:schemeClr val="accent6"/>
            </a:solidFill>
            <a:prstDash val="solid"/>
          </a:ln>
        </p:spPr>
      </p:sp>
      <p:sp>
        <p:nvSpPr>
          <p:cNvPr id="32" name="step 6"/>
          <p:cNvSpPr/>
          <p:nvPr/>
        </p:nvSpPr>
        <p:spPr>
          <a:xfrm>
            <a:off x="8351215" y="3794760"/>
            <a:ext cx="3291840" cy="2057400"/>
          </a:xfrm>
          <a:prstGeom prst="roundRect">
            <a:avLst>
              <a:gd name="adj" fmla="val 3556"/>
            </a:avLst>
          </a:prstGeom>
          <a:solidFill>
            <a:schemeClr val="bg2"/>
          </a:solidFill>
          <a:ln w="12700">
            <a:solidFill>
              <a:schemeClr val="bg2"/>
            </a:solidFill>
            <a:prstDash val="solid"/>
          </a:ln>
        </p:spPr>
      </p:sp>
      <p:sp>
        <p:nvSpPr>
          <p:cNvPr id="33" name="step icon bg 6"/>
          <p:cNvSpPr/>
          <p:nvPr/>
        </p:nvSpPr>
        <p:spPr>
          <a:xfrm>
            <a:off x="8579815" y="4023360"/>
            <a:ext cx="548640" cy="548640"/>
          </a:xfrm>
          <a:prstGeom prst="ellipse">
            <a:avLst/>
          </a:prstGeom>
          <a:solidFill>
            <a:schemeClr val="accent1"/>
          </a:solidFill>
          <a:ln w="12700">
            <a:solidFill>
              <a:schemeClr val="accent1"/>
            </a:solidFill>
            <a:prstDash val="solid"/>
          </a:ln>
        </p:spPr>
      </p:sp>
      <p:pic>
        <p:nvPicPr>
          <p:cNvPr id="34" name="step icon 6" descr="6  Analysis + demo">    </p:cNvPr>
          <p:cNvPicPr>
            <a:picLocks noChangeAspect="1"/>
          </p:cNvPicPr>
          <p:nvPr/>
        </p:nvPicPr>
        <p:blipFill>
          <a:blip r:embed="rId6"/>
          <a:stretch>
            <a:fillRect/>
          </a:stretch>
        </p:blipFill>
        <p:spPr>
          <a:xfrm>
            <a:off x="8716975" y="4160520"/>
            <a:ext cx="274320" cy="274320"/>
          </a:xfrm>
          <a:prstGeom prst="rect">
            <a:avLst/>
          </a:prstGeom>
        </p:spPr>
      </p:pic>
      <p:sp>
        <p:nvSpPr>
          <p:cNvPr id="35" name="step head 6"/>
          <p:cNvSpPr txBox="1"/>
          <p:nvPr/>
        </p:nvSpPr>
        <p:spPr>
          <a:xfrm>
            <a:off x="9265615" y="4023360"/>
            <a:ext cx="2194560" cy="548640"/>
          </a:xfrm>
          <a:prstGeom prst="rect">
            <a:avLst/>
          </a:prstGeom>
          <a:noFill/>
          <a:ln/>
        </p:spPr>
        <p:txBody>
          <a:bodyPr wrap="square" lIns="0" tIns="0" rIns="0" bIns="0" rtlCol="0" anchor="ctr"/>
          <a:lstStyle/>
          <a:p>
            <a:pPr indent="0" marL="0">
              <a:buNone/>
            </a:pPr>
            <a:r>
              <a:rPr lang="en-US" sz="1900" b="1" dirty="0">
                <a:solidFill>
                  <a:schemeClr val="tx1"/>
                </a:solidFill>
              </a:rPr>
              <a:t>6  Analysis + demo</a:t>
            </a:r>
            <a:endParaRPr lang="en-US" sz="1900" dirty="0"/>
          </a:p>
        </p:txBody>
      </p:sp>
      <p:sp>
        <p:nvSpPr>
          <p:cNvPr id="36" name="step body 6"/>
          <p:cNvSpPr txBox="1"/>
          <p:nvPr/>
        </p:nvSpPr>
        <p:spPr>
          <a:xfrm>
            <a:off x="8579815" y="4709160"/>
            <a:ext cx="2834640" cy="1005840"/>
          </a:xfrm>
          <a:prstGeom prst="rect">
            <a:avLst/>
          </a:prstGeom>
          <a:noFill/>
          <a:ln/>
        </p:spPr>
        <p:txBody>
          <a:bodyPr wrap="square" lIns="0" tIns="0" rIns="0" bIns="0" rtlCol="0" anchor="t"/>
          <a:lstStyle/>
          <a:p>
            <a:pPr indent="0" marL="0">
              <a:buNone/>
            </a:pPr>
            <a:r>
              <a:rPr lang="en-US" sz="1400" dirty="0">
                <a:solidFill>
                  <a:schemeClr val="tx2"/>
                </a:solidFill>
              </a:rPr>
              <a:t>Retention, unseen corruptions, bootstrap tests, speed and memory. Gradio demo</a:t>
            </a:r>
            <a:endParaRPr lang="en-US" sz="1400" dirty="0"/>
          </a:p>
        </p:txBody>
      </p:sp>
      <p:sp>
        <p:nvSpPr>
          <p:cNvPr id="37" name="tools"/>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400" dirty="0">
                <a:solidFill>
                  <a:schemeClr val="accent6"/>
                </a:solidFill>
              </a:rPr>
              <a:t>Python 3.11 · PyTorch 2.6 (CUDA 12.4) · PySODMetrics · Gradio · every number read from results/*.csv</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Models and algorithms used</a:t>
            </a:r>
            <a:endParaRPr lang="en-US" sz="3400" dirty="0"/>
          </a:p>
        </p:txBody>
      </p:sp>
      <p:sp>
        <p:nvSpPr>
          <p:cNvPr id="3" name="model group 1"/>
          <p:cNvSpPr/>
          <p:nvPr/>
        </p:nvSpPr>
        <p:spPr>
          <a:xfrm>
            <a:off x="548640" y="1280160"/>
            <a:ext cx="3515258" cy="2514600"/>
          </a:xfrm>
          <a:prstGeom prst="roundRect">
            <a:avLst>
              <a:gd name="adj" fmla="val 2909"/>
            </a:avLst>
          </a:prstGeom>
          <a:solidFill>
            <a:schemeClr val="bg2"/>
          </a:solidFill>
          <a:ln w="12700">
            <a:solidFill>
              <a:schemeClr val="bg2"/>
            </a:solidFill>
            <a:prstDash val="solid"/>
          </a:ln>
        </p:spPr>
      </p:sp>
      <p:sp>
        <p:nvSpPr>
          <p:cNvPr id="4" name="model group dot 1"/>
          <p:cNvSpPr/>
          <p:nvPr/>
        </p:nvSpPr>
        <p:spPr>
          <a:xfrm>
            <a:off x="777240" y="1463040"/>
            <a:ext cx="292608" cy="292608"/>
          </a:xfrm>
          <a:prstGeom prst="ellipse">
            <a:avLst/>
          </a:prstGeom>
          <a:solidFill>
            <a:schemeClr val="accent5"/>
          </a:solidFill>
          <a:ln w="12700">
            <a:solidFill>
              <a:schemeClr val="accent5"/>
            </a:solidFill>
            <a:prstDash val="solid"/>
          </a:ln>
        </p:spPr>
      </p:sp>
      <p:sp>
        <p:nvSpPr>
          <p:cNvPr id="5" name="model group head 1"/>
          <p:cNvSpPr txBox="1"/>
          <p:nvPr/>
        </p:nvSpPr>
        <p:spPr>
          <a:xfrm>
            <a:off x="1188720" y="1417320"/>
            <a:ext cx="2692298" cy="384048"/>
          </a:xfrm>
          <a:prstGeom prst="rect">
            <a:avLst/>
          </a:prstGeom>
          <a:noFill/>
          <a:ln/>
        </p:spPr>
        <p:txBody>
          <a:bodyPr wrap="square" lIns="0" tIns="0" rIns="0" bIns="0" rtlCol="0" anchor="ctr"/>
          <a:lstStyle/>
          <a:p>
            <a:pPr indent="0" marL="0">
              <a:buNone/>
            </a:pPr>
            <a:r>
              <a:rPr lang="en-US" sz="1800" b="1" dirty="0">
                <a:solidFill>
                  <a:schemeClr val="tx1"/>
                </a:solidFill>
              </a:rPr>
              <a:t>Specialist COD models</a:t>
            </a:r>
            <a:endParaRPr lang="en-US" sz="1800" dirty="0"/>
          </a:p>
        </p:txBody>
      </p:sp>
      <p:sp>
        <p:nvSpPr>
          <p:cNvPr id="6" name="model group items 1"/>
          <p:cNvSpPr txBox="1"/>
          <p:nvPr/>
        </p:nvSpPr>
        <p:spPr>
          <a:xfrm>
            <a:off x="777240" y="1920240"/>
            <a:ext cx="3103778" cy="17830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SINet-V2 (TPAMI 2022)</a:t>
            </a:r>
            <a:endParaRPr lang="en-US" sz="1500" dirty="0"/>
          </a:p>
          <a:p>
            <a:pPr marL="342900" indent="-342900">
              <a:spcAft>
                <a:spcPts val="400"/>
              </a:spcAft>
              <a:buSzPct val="100000"/>
              <a:buChar char="•"/>
            </a:pPr>
            <a:r>
              <a:rPr lang="en-US" sz="1500" dirty="0">
                <a:solidFill>
                  <a:schemeClr val="tx2"/>
                </a:solidFill>
              </a:rPr>
              <a:t>PFNet (CVPR 2021)</a:t>
            </a:r>
            <a:endParaRPr lang="en-US" sz="1500" dirty="0"/>
          </a:p>
          <a:p>
            <a:pPr marL="342900" indent="-342900">
              <a:spcAft>
                <a:spcPts val="400"/>
              </a:spcAft>
              <a:buSzPct val="100000"/>
              <a:buChar char="•"/>
            </a:pPr>
            <a:r>
              <a:rPr lang="en-US" sz="1500" dirty="0">
                <a:solidFill>
                  <a:schemeClr val="tx2"/>
                </a:solidFill>
              </a:rPr>
              <a:t>ZoomNet (CVPR 2022)</a:t>
            </a:r>
            <a:endParaRPr lang="en-US" sz="1500" dirty="0"/>
          </a:p>
          <a:p>
            <a:pPr marL="342900" indent="-342900">
              <a:spcAft>
                <a:spcPts val="400"/>
              </a:spcAft>
              <a:buSzPct val="100000"/>
              <a:buChar char="•"/>
            </a:pPr>
            <a:r>
              <a:rPr lang="en-US" sz="1500" dirty="0">
                <a:solidFill>
                  <a:schemeClr val="tx2"/>
                </a:solidFill>
              </a:rPr>
              <a:t>FEDER (CVPR 2023, clean only)</a:t>
            </a:r>
            <a:endParaRPr lang="en-US" sz="1500" dirty="0"/>
          </a:p>
        </p:txBody>
      </p:sp>
      <p:sp>
        <p:nvSpPr>
          <p:cNvPr id="7" name="model group 2"/>
          <p:cNvSpPr/>
          <p:nvPr/>
        </p:nvSpPr>
        <p:spPr>
          <a:xfrm>
            <a:off x="4338218" y="1280160"/>
            <a:ext cx="3515258" cy="2514600"/>
          </a:xfrm>
          <a:prstGeom prst="roundRect">
            <a:avLst>
              <a:gd name="adj" fmla="val 2909"/>
            </a:avLst>
          </a:prstGeom>
          <a:solidFill>
            <a:schemeClr val="bg2"/>
          </a:solidFill>
          <a:ln w="12700">
            <a:solidFill>
              <a:schemeClr val="bg2"/>
            </a:solidFill>
            <a:prstDash val="solid"/>
          </a:ln>
        </p:spPr>
      </p:sp>
      <p:sp>
        <p:nvSpPr>
          <p:cNvPr id="8" name="model group dot 2"/>
          <p:cNvSpPr/>
          <p:nvPr/>
        </p:nvSpPr>
        <p:spPr>
          <a:xfrm>
            <a:off x="4566818" y="1463040"/>
            <a:ext cx="292608" cy="292608"/>
          </a:xfrm>
          <a:prstGeom prst="ellipse">
            <a:avLst/>
          </a:prstGeom>
          <a:solidFill>
            <a:schemeClr val="accent4"/>
          </a:solidFill>
          <a:ln w="12700">
            <a:solidFill>
              <a:schemeClr val="accent4"/>
            </a:solidFill>
            <a:prstDash val="solid"/>
          </a:ln>
        </p:spPr>
      </p:sp>
      <p:sp>
        <p:nvSpPr>
          <p:cNvPr id="9" name="model group head 2"/>
          <p:cNvSpPr txBox="1"/>
          <p:nvPr/>
        </p:nvSpPr>
        <p:spPr>
          <a:xfrm>
            <a:off x="4978298" y="1417320"/>
            <a:ext cx="2692298" cy="384048"/>
          </a:xfrm>
          <a:prstGeom prst="rect">
            <a:avLst/>
          </a:prstGeom>
          <a:noFill/>
          <a:ln/>
        </p:spPr>
        <p:txBody>
          <a:bodyPr wrap="square" lIns="0" tIns="0" rIns="0" bIns="0" rtlCol="0" anchor="ctr"/>
          <a:lstStyle/>
          <a:p>
            <a:pPr indent="0" marL="0">
              <a:buNone/>
            </a:pPr>
            <a:r>
              <a:rPr lang="en-US" sz="1800" b="1" dirty="0">
                <a:solidFill>
                  <a:schemeClr val="tx1"/>
                </a:solidFill>
              </a:rPr>
              <a:t>SAM-based COD models</a:t>
            </a:r>
            <a:endParaRPr lang="en-US" sz="1800" dirty="0"/>
          </a:p>
        </p:txBody>
      </p:sp>
      <p:sp>
        <p:nvSpPr>
          <p:cNvPr id="10" name="model group items 2"/>
          <p:cNvSpPr txBox="1"/>
          <p:nvPr/>
        </p:nvSpPr>
        <p:spPr>
          <a:xfrm>
            <a:off x="4566818" y="1920240"/>
            <a:ext cx="3103778" cy="17830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SAM2-UNet (216.5 M)</a:t>
            </a:r>
            <a:endParaRPr lang="en-US" sz="1500" dirty="0"/>
          </a:p>
          <a:p>
            <a:pPr marL="342900" indent="-342900">
              <a:spcAft>
                <a:spcPts val="400"/>
              </a:spcAft>
              <a:buSzPct val="100000"/>
              <a:buChar char="•"/>
            </a:pPr>
            <a:r>
              <a:rPr lang="en-US" sz="1500" dirty="0">
                <a:solidFill>
                  <a:schemeClr val="tx2"/>
                </a:solidFill>
              </a:rPr>
              <a:t>SAM-Adapter, ViT-H (641.3 M)</a:t>
            </a:r>
            <a:endParaRPr lang="en-US" sz="1500" dirty="0"/>
          </a:p>
          <a:p>
            <a:pPr marL="342900" indent="-342900">
              <a:spcAft>
                <a:spcPts val="400"/>
              </a:spcAft>
              <a:buSzPct val="100000"/>
              <a:buChar char="•"/>
            </a:pPr>
            <a:r>
              <a:rPr lang="en-US" sz="1500" dirty="0">
                <a:solidFill>
                  <a:schemeClr val="tx2"/>
                </a:solidFill>
              </a:rPr>
              <a:t>Oracle-box MobileSAM (analysis only)</a:t>
            </a:r>
            <a:endParaRPr lang="en-US" sz="1500" dirty="0"/>
          </a:p>
        </p:txBody>
      </p:sp>
      <p:sp>
        <p:nvSpPr>
          <p:cNvPr id="11" name="model group 3"/>
          <p:cNvSpPr/>
          <p:nvPr/>
        </p:nvSpPr>
        <p:spPr>
          <a:xfrm>
            <a:off x="8127797" y="1280160"/>
            <a:ext cx="3515258" cy="2514600"/>
          </a:xfrm>
          <a:prstGeom prst="roundRect">
            <a:avLst>
              <a:gd name="adj" fmla="val 2909"/>
            </a:avLst>
          </a:prstGeom>
          <a:solidFill>
            <a:schemeClr val="bg2"/>
          </a:solidFill>
          <a:ln w="12700">
            <a:solidFill>
              <a:schemeClr val="bg2"/>
            </a:solidFill>
            <a:prstDash val="solid"/>
          </a:ln>
        </p:spPr>
      </p:sp>
      <p:sp>
        <p:nvSpPr>
          <p:cNvPr id="12" name="model group dot 3"/>
          <p:cNvSpPr/>
          <p:nvPr/>
        </p:nvSpPr>
        <p:spPr>
          <a:xfrm>
            <a:off x="8356397" y="1463040"/>
            <a:ext cx="292608" cy="292608"/>
          </a:xfrm>
          <a:prstGeom prst="ellipse">
            <a:avLst/>
          </a:prstGeom>
          <a:solidFill>
            <a:schemeClr val="accent2"/>
          </a:solidFill>
          <a:ln w="12700">
            <a:solidFill>
              <a:schemeClr val="accent2"/>
            </a:solidFill>
            <a:prstDash val="solid"/>
          </a:ln>
        </p:spPr>
      </p:sp>
      <p:sp>
        <p:nvSpPr>
          <p:cNvPr id="13" name="model group head 3"/>
          <p:cNvSpPr txBox="1"/>
          <p:nvPr/>
        </p:nvSpPr>
        <p:spPr>
          <a:xfrm>
            <a:off x="8767877" y="1417320"/>
            <a:ext cx="2692298" cy="384048"/>
          </a:xfrm>
          <a:prstGeom prst="rect">
            <a:avLst/>
          </a:prstGeom>
          <a:noFill/>
          <a:ln/>
        </p:spPr>
        <p:txBody>
          <a:bodyPr wrap="square" lIns="0" tIns="0" rIns="0" bIns="0" rtlCol="0" anchor="ctr"/>
          <a:lstStyle/>
          <a:p>
            <a:pPr indent="0" marL="0">
              <a:buNone/>
            </a:pPr>
            <a:r>
              <a:rPr lang="en-US" sz="1800" b="1" dirty="0">
                <a:solidFill>
                  <a:schemeClr val="tx1"/>
                </a:solidFill>
              </a:rPr>
              <a:t>Ours: robust SAM adapter</a:t>
            </a:r>
            <a:endParaRPr lang="en-US" sz="1800" dirty="0"/>
          </a:p>
        </p:txBody>
      </p:sp>
      <p:sp>
        <p:nvSpPr>
          <p:cNvPr id="14" name="model group items 3"/>
          <p:cNvSpPr txBox="1"/>
          <p:nvPr/>
        </p:nvSpPr>
        <p:spPr>
          <a:xfrm>
            <a:off x="8356397" y="1920240"/>
            <a:ext cx="3103778" cy="17830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MobileSAM TinyViT encoder (frozen)</a:t>
            </a:r>
            <a:endParaRPr lang="en-US" sz="1500" dirty="0"/>
          </a:p>
          <a:p>
            <a:pPr marL="342900" indent="-342900">
              <a:spcAft>
                <a:spcPts val="400"/>
              </a:spcAft>
              <a:buSzPct val="100000"/>
              <a:buChar char="•"/>
            </a:pPr>
            <a:r>
              <a:rPr lang="en-US" sz="1500" dirty="0">
                <a:solidFill>
                  <a:schemeClr val="tx2"/>
                </a:solidFill>
              </a:rPr>
              <a:t>Bottleneck adapters in 10 blocks</a:t>
            </a:r>
            <a:endParaRPr lang="en-US" sz="1500" dirty="0"/>
          </a:p>
          <a:p>
            <a:pPr marL="342900" indent="-342900">
              <a:spcAft>
                <a:spcPts val="400"/>
              </a:spcAft>
              <a:buSzPct val="100000"/>
              <a:buChar char="•"/>
            </a:pPr>
            <a:r>
              <a:rPr lang="en-US" sz="1500" dirty="0">
                <a:solidFill>
                  <a:schemeClr val="tx2"/>
                </a:solidFill>
              </a:rPr>
              <a:t>Learned prompt tokens</a:t>
            </a:r>
            <a:endParaRPr lang="en-US" sz="1500" dirty="0"/>
          </a:p>
          <a:p>
            <a:pPr marL="342900" indent="-342900">
              <a:spcAft>
                <a:spcPts val="400"/>
              </a:spcAft>
              <a:buSzPct val="100000"/>
              <a:buChar char="•"/>
            </a:pPr>
            <a:r>
              <a:rPr lang="en-US" sz="1500" dirty="0">
                <a:solidFill>
                  <a:schemeClr val="tx2"/>
                </a:solidFill>
              </a:rPr>
              <a:t>SAM mask decoder (trained)</a:t>
            </a:r>
            <a:endParaRPr lang="en-US" sz="1500" dirty="0"/>
          </a:p>
        </p:txBody>
      </p:sp>
      <p:sp>
        <p:nvSpPr>
          <p:cNvPr id="15" name="algorithms head"/>
          <p:cNvSpPr txBox="1"/>
          <p:nvPr/>
        </p:nvSpPr>
        <p:spPr>
          <a:xfrm>
            <a:off x="548640" y="4023360"/>
            <a:ext cx="11094415" cy="365760"/>
          </a:xfrm>
          <a:prstGeom prst="rect">
            <a:avLst/>
          </a:prstGeom>
          <a:noFill/>
          <a:ln/>
        </p:spPr>
        <p:txBody>
          <a:bodyPr wrap="square" lIns="0" tIns="0" rIns="0" bIns="0" rtlCol="0" anchor="ctr"/>
          <a:lstStyle/>
          <a:p>
            <a:pPr indent="0" marL="0">
              <a:buNone/>
            </a:pPr>
            <a:r>
              <a:rPr lang="en-US" sz="1800" b="1" dirty="0">
                <a:solidFill>
                  <a:schemeClr val="tx1"/>
                </a:solidFill>
              </a:rPr>
              <a:t>Algorithms</a:t>
            </a:r>
            <a:endParaRPr lang="en-US" sz="1800" dirty="0"/>
          </a:p>
        </p:txBody>
      </p:sp>
      <p:sp>
        <p:nvSpPr>
          <p:cNvPr id="16" name="algo 1"/>
          <p:cNvSpPr/>
          <p:nvPr/>
        </p:nvSpPr>
        <p:spPr>
          <a:xfrm>
            <a:off x="548640" y="4480560"/>
            <a:ext cx="2602154" cy="685800"/>
          </a:xfrm>
          <a:prstGeom prst="roundRect">
            <a:avLst>
              <a:gd name="adj" fmla="val 10667"/>
            </a:avLst>
          </a:prstGeom>
          <a:solidFill>
            <a:schemeClr val="bg1"/>
          </a:solidFill>
          <a:ln w="15875">
            <a:solidFill>
              <a:schemeClr val="accent1"/>
            </a:solidFill>
            <a:prstDash val="solid"/>
          </a:ln>
        </p:spPr>
      </p:sp>
      <p:sp>
        <p:nvSpPr>
          <p:cNvPr id="17" name="algo text 1"/>
          <p:cNvSpPr txBox="1"/>
          <p:nvPr/>
        </p:nvSpPr>
        <p:spPr>
          <a:xfrm>
            <a:off x="685800" y="448056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Bottleneck adapters</a:t>
            </a:r>
            <a:endParaRPr lang="en-US" sz="1400" dirty="0"/>
          </a:p>
        </p:txBody>
      </p:sp>
      <p:sp>
        <p:nvSpPr>
          <p:cNvPr id="18" name="algo 2"/>
          <p:cNvSpPr/>
          <p:nvPr/>
        </p:nvSpPr>
        <p:spPr>
          <a:xfrm>
            <a:off x="3379394" y="4480560"/>
            <a:ext cx="2602154" cy="685800"/>
          </a:xfrm>
          <a:prstGeom prst="roundRect">
            <a:avLst>
              <a:gd name="adj" fmla="val 10667"/>
            </a:avLst>
          </a:prstGeom>
          <a:solidFill>
            <a:schemeClr val="bg1"/>
          </a:solidFill>
          <a:ln w="15875">
            <a:solidFill>
              <a:schemeClr val="accent1"/>
            </a:solidFill>
            <a:prstDash val="solid"/>
          </a:ln>
        </p:spPr>
      </p:sp>
      <p:sp>
        <p:nvSpPr>
          <p:cNvPr id="19" name="algo text 2"/>
          <p:cNvSpPr txBox="1"/>
          <p:nvPr/>
        </p:nvSpPr>
        <p:spPr>
          <a:xfrm>
            <a:off x="3516554" y="448056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Learned prompt tokens</a:t>
            </a:r>
            <a:endParaRPr lang="en-US" sz="1400" dirty="0"/>
          </a:p>
        </p:txBody>
      </p:sp>
      <p:sp>
        <p:nvSpPr>
          <p:cNvPr id="20" name="algo 3"/>
          <p:cNvSpPr/>
          <p:nvPr/>
        </p:nvSpPr>
        <p:spPr>
          <a:xfrm>
            <a:off x="6210148" y="4480560"/>
            <a:ext cx="2602154" cy="685800"/>
          </a:xfrm>
          <a:prstGeom prst="roundRect">
            <a:avLst>
              <a:gd name="adj" fmla="val 10667"/>
            </a:avLst>
          </a:prstGeom>
          <a:solidFill>
            <a:schemeClr val="bg1"/>
          </a:solidFill>
          <a:ln w="15875">
            <a:solidFill>
              <a:schemeClr val="accent1"/>
            </a:solidFill>
            <a:prstDash val="solid"/>
          </a:ln>
        </p:spPr>
      </p:sp>
      <p:sp>
        <p:nvSpPr>
          <p:cNvPr id="21" name="algo text 3"/>
          <p:cNvSpPr txBox="1"/>
          <p:nvPr/>
        </p:nvSpPr>
        <p:spPr>
          <a:xfrm>
            <a:off x="6347308" y="448056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Structure loss (wBCE + wIoU)</a:t>
            </a:r>
            <a:endParaRPr lang="en-US" sz="1400" dirty="0"/>
          </a:p>
        </p:txBody>
      </p:sp>
      <p:sp>
        <p:nvSpPr>
          <p:cNvPr id="22" name="algo 4"/>
          <p:cNvSpPr/>
          <p:nvPr/>
        </p:nvSpPr>
        <p:spPr>
          <a:xfrm>
            <a:off x="9040901" y="4480560"/>
            <a:ext cx="2602154" cy="685800"/>
          </a:xfrm>
          <a:prstGeom prst="roundRect">
            <a:avLst>
              <a:gd name="adj" fmla="val 10667"/>
            </a:avLst>
          </a:prstGeom>
          <a:solidFill>
            <a:schemeClr val="bg1"/>
          </a:solidFill>
          <a:ln w="15875">
            <a:solidFill>
              <a:schemeClr val="accent1"/>
            </a:solidFill>
            <a:prstDash val="solid"/>
          </a:ln>
        </p:spPr>
      </p:sp>
      <p:sp>
        <p:nvSpPr>
          <p:cNvPr id="23" name="algo text 4"/>
          <p:cNvSpPr txBox="1"/>
          <p:nvPr/>
        </p:nvSpPr>
        <p:spPr>
          <a:xfrm>
            <a:off x="9178061" y="448056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Corruption augmentation</a:t>
            </a:r>
            <a:endParaRPr lang="en-US" sz="1400" dirty="0"/>
          </a:p>
        </p:txBody>
      </p:sp>
      <p:sp>
        <p:nvSpPr>
          <p:cNvPr id="24" name="algo 5"/>
          <p:cNvSpPr/>
          <p:nvPr/>
        </p:nvSpPr>
        <p:spPr>
          <a:xfrm>
            <a:off x="548640" y="5349240"/>
            <a:ext cx="2602154" cy="685800"/>
          </a:xfrm>
          <a:prstGeom prst="roundRect">
            <a:avLst>
              <a:gd name="adj" fmla="val 10667"/>
            </a:avLst>
          </a:prstGeom>
          <a:solidFill>
            <a:schemeClr val="bg1"/>
          </a:solidFill>
          <a:ln w="15875">
            <a:solidFill>
              <a:schemeClr val="accent1"/>
            </a:solidFill>
            <a:prstDash val="solid"/>
          </a:ln>
        </p:spPr>
      </p:sp>
      <p:sp>
        <p:nvSpPr>
          <p:cNvPr id="25" name="algo text 5"/>
          <p:cNvSpPr txBox="1"/>
          <p:nvPr/>
        </p:nvSpPr>
        <p:spPr>
          <a:xfrm>
            <a:off x="685800" y="534924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Clean/corrupted consistency loss</a:t>
            </a:r>
            <a:endParaRPr lang="en-US" sz="1400" dirty="0"/>
          </a:p>
        </p:txBody>
      </p:sp>
      <p:sp>
        <p:nvSpPr>
          <p:cNvPr id="26" name="algo 6"/>
          <p:cNvSpPr/>
          <p:nvPr/>
        </p:nvSpPr>
        <p:spPr>
          <a:xfrm>
            <a:off x="3379394" y="5349240"/>
            <a:ext cx="2602154" cy="685800"/>
          </a:xfrm>
          <a:prstGeom prst="roundRect">
            <a:avLst>
              <a:gd name="adj" fmla="val 10667"/>
            </a:avLst>
          </a:prstGeom>
          <a:solidFill>
            <a:schemeClr val="bg1"/>
          </a:solidFill>
          <a:ln w="15875">
            <a:solidFill>
              <a:schemeClr val="accent1"/>
            </a:solidFill>
            <a:prstDash val="solid"/>
          </a:ln>
        </p:spPr>
      </p:sp>
      <p:sp>
        <p:nvSpPr>
          <p:cNvPr id="27" name="algo text 6"/>
          <p:cNvSpPr txBox="1"/>
          <p:nvPr/>
        </p:nvSpPr>
        <p:spPr>
          <a:xfrm>
            <a:off x="3516554" y="534924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AdamW + cosine learning rate</a:t>
            </a:r>
            <a:endParaRPr lang="en-US" sz="1400" dirty="0"/>
          </a:p>
        </p:txBody>
      </p:sp>
      <p:sp>
        <p:nvSpPr>
          <p:cNvPr id="28" name="algo 7"/>
          <p:cNvSpPr/>
          <p:nvPr/>
        </p:nvSpPr>
        <p:spPr>
          <a:xfrm>
            <a:off x="6210148" y="5349240"/>
            <a:ext cx="2602154" cy="685800"/>
          </a:xfrm>
          <a:prstGeom prst="roundRect">
            <a:avLst>
              <a:gd name="adj" fmla="val 10667"/>
            </a:avLst>
          </a:prstGeom>
          <a:solidFill>
            <a:schemeClr val="bg1"/>
          </a:solidFill>
          <a:ln w="15875">
            <a:solidFill>
              <a:schemeClr val="accent1"/>
            </a:solidFill>
            <a:prstDash val="solid"/>
          </a:ln>
        </p:spPr>
      </p:sp>
      <p:sp>
        <p:nvSpPr>
          <p:cNvPr id="29" name="algo text 7"/>
          <p:cNvSpPr txBox="1"/>
          <p:nvPr/>
        </p:nvSpPr>
        <p:spPr>
          <a:xfrm>
            <a:off x="6347308" y="534924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fp16 + gradient checkpointing</a:t>
            </a:r>
            <a:endParaRPr lang="en-US" sz="1400" dirty="0"/>
          </a:p>
        </p:txBody>
      </p:sp>
      <p:sp>
        <p:nvSpPr>
          <p:cNvPr id="30" name="algo 8"/>
          <p:cNvSpPr/>
          <p:nvPr/>
        </p:nvSpPr>
        <p:spPr>
          <a:xfrm>
            <a:off x="9040901" y="5349240"/>
            <a:ext cx="2602154" cy="685800"/>
          </a:xfrm>
          <a:prstGeom prst="roundRect">
            <a:avLst>
              <a:gd name="adj" fmla="val 10667"/>
            </a:avLst>
          </a:prstGeom>
          <a:solidFill>
            <a:schemeClr val="bg1"/>
          </a:solidFill>
          <a:ln w="15875">
            <a:solidFill>
              <a:schemeClr val="accent1"/>
            </a:solidFill>
            <a:prstDash val="solid"/>
          </a:ln>
        </p:spPr>
      </p:sp>
      <p:sp>
        <p:nvSpPr>
          <p:cNvPr id="31" name="algo text 8"/>
          <p:cNvSpPr txBox="1"/>
          <p:nvPr/>
        </p:nvSpPr>
        <p:spPr>
          <a:xfrm>
            <a:off x="9178061" y="5349240"/>
            <a:ext cx="2327834" cy="685800"/>
          </a:xfrm>
          <a:prstGeom prst="rect">
            <a:avLst/>
          </a:prstGeom>
          <a:noFill/>
          <a:ln/>
        </p:spPr>
        <p:txBody>
          <a:bodyPr wrap="square" lIns="0" tIns="0" rIns="0" bIns="0" rtlCol="0" anchor="ctr"/>
          <a:lstStyle/>
          <a:p>
            <a:pPr algn="ctr" indent="0" marL="0">
              <a:buNone/>
            </a:pPr>
            <a:r>
              <a:rPr lang="en-US" sz="1400" dirty="0">
                <a:solidFill>
                  <a:schemeClr val="tx1"/>
                </a:solidFill>
              </a:rPr>
              <a:t>Paired bootstrap (95% CI)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Our model: a prompt-free MobileSAM adapter</a:t>
            </a:r>
            <a:endParaRPr lang="en-US" sz="3400" dirty="0"/>
          </a:p>
        </p:txBody>
      </p:sp>
      <p:pic>
        <p:nvPicPr>
          <p:cNvPr id="3" name="architecture figure" descr="Architecture: input, frozen TinyViT encoder with adapters, SAM mask decoder with learned prompts, camouflage map">    </p:cNvPr>
          <p:cNvPicPr>
            <a:picLocks noChangeAspect="1"/>
          </p:cNvPicPr>
          <p:nvPr/>
        </p:nvPicPr>
        <p:blipFill>
          <a:blip r:embed="rId1"/>
          <a:stretch>
            <a:fillRect/>
          </a:stretch>
        </p:blipFill>
        <p:spPr>
          <a:xfrm>
            <a:off x="662830" y="1234440"/>
            <a:ext cx="10866036" cy="3520440"/>
          </a:xfrm>
          <a:prstGeom prst="rect">
            <a:avLst/>
          </a:prstGeom>
        </p:spPr>
      </p:pic>
      <p:sp>
        <p:nvSpPr>
          <p:cNvPr id="4" name="stat total card"/>
          <p:cNvSpPr/>
          <p:nvPr/>
        </p:nvSpPr>
        <p:spPr>
          <a:xfrm>
            <a:off x="548640" y="4892040"/>
            <a:ext cx="3520440" cy="1325880"/>
          </a:xfrm>
          <a:prstGeom prst="roundRect">
            <a:avLst>
              <a:gd name="adj" fmla="val 5517"/>
            </a:avLst>
          </a:prstGeom>
          <a:solidFill>
            <a:schemeClr val="bg2"/>
          </a:solidFill>
          <a:ln w="12700">
            <a:solidFill>
              <a:schemeClr val="bg2"/>
            </a:solidFill>
            <a:prstDash val="solid"/>
          </a:ln>
        </p:spPr>
      </p:sp>
      <p:sp>
        <p:nvSpPr>
          <p:cNvPr id="5" name="stat total value"/>
          <p:cNvSpPr txBox="1"/>
          <p:nvPr/>
        </p:nvSpPr>
        <p:spPr>
          <a:xfrm>
            <a:off x="777240" y="5001768"/>
            <a:ext cx="306324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10.3 M</a:t>
            </a:r>
            <a:endParaRPr lang="en-US" sz="3200" dirty="0"/>
          </a:p>
        </p:txBody>
      </p:sp>
      <p:sp>
        <p:nvSpPr>
          <p:cNvPr id="6" name="stat total label"/>
          <p:cNvSpPr txBox="1"/>
          <p:nvPr/>
        </p:nvSpPr>
        <p:spPr>
          <a:xfrm>
            <a:off x="777240" y="5669280"/>
            <a:ext cx="3063240" cy="457200"/>
          </a:xfrm>
          <a:prstGeom prst="rect">
            <a:avLst/>
          </a:prstGeom>
          <a:noFill/>
          <a:ln/>
        </p:spPr>
        <p:txBody>
          <a:bodyPr wrap="square" lIns="0" tIns="0" rIns="0" bIns="0" rtlCol="0" anchor="t"/>
          <a:lstStyle/>
          <a:p>
            <a:pPr indent="0" marL="0">
              <a:buNone/>
            </a:pPr>
            <a:r>
              <a:rPr lang="en-US" sz="1400" dirty="0">
                <a:solidFill>
                  <a:schemeClr val="tx2"/>
                </a:solidFill>
              </a:rPr>
              <a:t>parameters in total</a:t>
            </a:r>
            <a:endParaRPr lang="en-US" sz="1400" dirty="0"/>
          </a:p>
        </p:txBody>
      </p:sp>
      <p:sp>
        <p:nvSpPr>
          <p:cNvPr id="7" name="stat trainable card"/>
          <p:cNvSpPr/>
          <p:nvPr/>
        </p:nvSpPr>
        <p:spPr>
          <a:xfrm>
            <a:off x="4343400" y="4892040"/>
            <a:ext cx="3520440" cy="1325880"/>
          </a:xfrm>
          <a:prstGeom prst="roundRect">
            <a:avLst>
              <a:gd name="adj" fmla="val 5517"/>
            </a:avLst>
          </a:prstGeom>
          <a:solidFill>
            <a:schemeClr val="bg2"/>
          </a:solidFill>
          <a:ln w="12700">
            <a:solidFill>
              <a:schemeClr val="bg2"/>
            </a:solidFill>
            <a:prstDash val="solid"/>
          </a:ln>
        </p:spPr>
      </p:sp>
      <p:sp>
        <p:nvSpPr>
          <p:cNvPr id="8" name="stat trainable value"/>
          <p:cNvSpPr txBox="1"/>
          <p:nvPr/>
        </p:nvSpPr>
        <p:spPr>
          <a:xfrm>
            <a:off x="4572000" y="5001768"/>
            <a:ext cx="306324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3.7 M</a:t>
            </a:r>
            <a:endParaRPr lang="en-US" sz="3200" dirty="0"/>
          </a:p>
        </p:txBody>
      </p:sp>
      <p:sp>
        <p:nvSpPr>
          <p:cNvPr id="9" name="stat trainable label"/>
          <p:cNvSpPr txBox="1"/>
          <p:nvPr/>
        </p:nvSpPr>
        <p:spPr>
          <a:xfrm>
            <a:off x="4572000" y="5669280"/>
            <a:ext cx="3063240" cy="457200"/>
          </a:xfrm>
          <a:prstGeom prst="rect">
            <a:avLst/>
          </a:prstGeom>
          <a:noFill/>
          <a:ln/>
        </p:spPr>
        <p:txBody>
          <a:bodyPr wrap="square" lIns="0" tIns="0" rIns="0" bIns="0" rtlCol="0" anchor="t"/>
          <a:lstStyle/>
          <a:p>
            <a:pPr indent="0" marL="0">
              <a:buNone/>
            </a:pPr>
            <a:r>
              <a:rPr lang="en-US" sz="1400" dirty="0">
                <a:solidFill>
                  <a:schemeClr val="tx2"/>
                </a:solidFill>
              </a:rPr>
              <a:t>trained: adapters, prompts, decoder</a:t>
            </a:r>
            <a:endParaRPr lang="en-US" sz="1400" dirty="0"/>
          </a:p>
        </p:txBody>
      </p:sp>
      <p:sp>
        <p:nvSpPr>
          <p:cNvPr id="10" name="stat prompts card"/>
          <p:cNvSpPr/>
          <p:nvPr/>
        </p:nvSpPr>
        <p:spPr>
          <a:xfrm>
            <a:off x="8138160" y="4892040"/>
            <a:ext cx="3502152" cy="1325880"/>
          </a:xfrm>
          <a:prstGeom prst="roundRect">
            <a:avLst>
              <a:gd name="adj" fmla="val 5517"/>
            </a:avLst>
          </a:prstGeom>
          <a:solidFill>
            <a:schemeClr val="bg2"/>
          </a:solidFill>
          <a:ln w="12700">
            <a:solidFill>
              <a:schemeClr val="bg2"/>
            </a:solidFill>
            <a:prstDash val="solid"/>
          </a:ln>
        </p:spPr>
      </p:sp>
      <p:sp>
        <p:nvSpPr>
          <p:cNvPr id="11" name="stat prompts value"/>
          <p:cNvSpPr txBox="1"/>
          <p:nvPr/>
        </p:nvSpPr>
        <p:spPr>
          <a:xfrm>
            <a:off x="8366760" y="5001768"/>
            <a:ext cx="3044952"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 clicks</a:t>
            </a:r>
            <a:endParaRPr lang="en-US" sz="3200" dirty="0"/>
          </a:p>
        </p:txBody>
      </p:sp>
      <p:sp>
        <p:nvSpPr>
          <p:cNvPr id="12" name="stat prompts label"/>
          <p:cNvSpPr txBox="1"/>
          <p:nvPr/>
        </p:nvSpPr>
        <p:spPr>
          <a:xfrm>
            <a:off x="8366760" y="5669280"/>
            <a:ext cx="3044952" cy="457200"/>
          </a:xfrm>
          <a:prstGeom prst="rect">
            <a:avLst/>
          </a:prstGeom>
          <a:noFill/>
          <a:ln/>
        </p:spPr>
        <p:txBody>
          <a:bodyPr wrap="square" lIns="0" tIns="0" rIns="0" bIns="0" rtlCol="0" anchor="t"/>
          <a:lstStyle/>
          <a:p>
            <a:pPr indent="0" marL="0">
              <a:buNone/>
            </a:pPr>
            <a:r>
              <a:rPr lang="en-US" sz="1400" dirty="0">
                <a:solidFill>
                  <a:schemeClr val="tx2"/>
                </a:solidFill>
              </a:rPr>
              <a:t>prompts are learned, fully automatic</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Role of models and algorithms used</a:t>
            </a:r>
            <a:endParaRPr lang="en-US" sz="3400" dirty="0"/>
          </a:p>
        </p:txBody>
      </p:sp>
      <p:graphicFrame>
        <p:nvGraphicFramePr>
          <p:cNvPr id="7" name="roles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108960"/>
                <a:gridCol w="7985455"/>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Component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Role in the project</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2C4A36"/>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SINet-V2, PFNet, ZoomNet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Specialist baselines: how well do CNNs built for COD survive corruption? SINet-V2 is the reference for mCE.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SAM2-UNet, SAM-Adapter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Foundation-model baselines: the most accurate on clean images; we measure their robustness for the first time.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MobileSAM TinyViT (frozen)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General visual features learnt from 11 M images, small enough for a 4 GB GPU.</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Bottleneck adapters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Teach the frozen encoder about camouflage with 0.2 M parameters; start at zero, so training begins from SAM.</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Learned prompt tokens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Replace user clicks and boxes, so detection is fully automatic.</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Structure loss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Weighted BCE + weighted IoU: focuses training on hard pixels near object boundaries.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Augmentation + consistency</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Train on 4 seen corruptions; make the corrupted-view prediction match the clean one.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EA"/>
                    </a:solidFill>
                  </a:tcPr>
                </a:tc>
              </a:tr>
              <a:tr h="54864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Metrics + bootstrap</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2C4A36"/>
                          </a:solidFill>
                          <a:latin typeface="Calibri" pitchFamily="34" charset="0"/>
                          <a:ea typeface="Calibri" pitchFamily="34" charset="-122"/>
                          <a:cs typeface="Calibri" pitchFamily="34" charset="-120"/>
                        </a:rPr>
                        <a:t>Six standard COD metrics; 95% confidence intervals show whether a difference is real.</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Inputs: test images under eight corruptions</a:t>
            </a:r>
            <a:endParaRPr lang="en-US" sz="3400" dirty="0"/>
          </a:p>
        </p:txBody>
      </p:sp>
      <p:pic>
        <p:nvPicPr>
          <p:cNvPr id="3" name="corruption grid" descr="One COD10K image under 8 corruptions at severities 0 to 5">    </p:cNvPr>
          <p:cNvPicPr>
            <a:picLocks noChangeAspect="1"/>
          </p:cNvPicPr>
          <p:nvPr/>
        </p:nvPicPr>
        <p:blipFill>
          <a:blip r:embed="rId1"/>
          <a:stretch>
            <a:fillRect/>
          </a:stretch>
        </p:blipFill>
        <p:spPr>
          <a:xfrm>
            <a:off x="548640" y="1188720"/>
            <a:ext cx="6129166" cy="5074920"/>
          </a:xfrm>
          <a:prstGeom prst="rect">
            <a:avLst/>
          </a:prstGeom>
        </p:spPr>
      </p:pic>
      <p:sp>
        <p:nvSpPr>
          <p:cNvPr id="4" name="test sets head"/>
          <p:cNvSpPr txBox="1"/>
          <p:nvPr/>
        </p:nvSpPr>
        <p:spPr>
          <a:xfrm>
            <a:off x="7089286" y="1234440"/>
            <a:ext cx="4553770" cy="365760"/>
          </a:xfrm>
          <a:prstGeom prst="rect">
            <a:avLst/>
          </a:prstGeom>
          <a:noFill/>
          <a:ln/>
        </p:spPr>
        <p:txBody>
          <a:bodyPr wrap="square" lIns="0" tIns="0" rIns="0" bIns="0" rtlCol="0" anchor="ctr"/>
          <a:lstStyle/>
          <a:p>
            <a:pPr indent="0" marL="0">
              <a:buNone/>
            </a:pPr>
            <a:r>
              <a:rPr lang="en-US" sz="1800" b="1" dirty="0">
                <a:solidFill>
                  <a:schemeClr val="tx1"/>
                </a:solidFill>
              </a:rPr>
              <a:t>Test sets</a:t>
            </a:r>
            <a:endParaRPr lang="en-US" sz="1800" dirty="0"/>
          </a:p>
        </p:txBody>
      </p:sp>
      <p:graphicFrame>
        <p:nvGraphicFramePr>
          <p:cNvPr id="8" name="test sets table"/>
          <p:cNvGraphicFramePr>
            <a:graphicFrameLocks noGrp="1"/>
          </p:cNvGraphicFramePr>
          <p:nvPr>
            <p:extLst>
              <p:ext uri="{D42A27DB-BD31-4B8C-83A1-F6EECF244321}">
                <p14:modId xmlns:p14="http://schemas.microsoft.com/office/powerpoint/2010/main" val="1579011935"/>
              </p:ext>
            </p:extLst>
          </p:nvPr>
        </p:nvGraphicFramePr>
        <p:xfrm>
          <a:off x="7089286" y="1691640"/>
          <a:ext cx="4553770" cy="914400"/>
        </p:xfrm>
        <a:graphic>
          <a:graphicData uri="http://schemas.openxmlformats.org/drawingml/2006/table">
            <a:tbl>
              <a:tblPr/>
              <a:tblGrid>
                <a:gridCol w="2276885"/>
                <a:gridCol w="2276885"/>
              </a:tblGrid>
              <a:tr h="365760">
                <a:tc>
                  <a:txBody>
                    <a:bodyPr/>
                    <a:lstStyle/>
                    <a:p>
                      <a:pPr indent="0" marL="0">
                        <a:buNone/>
                      </a:pPr>
                      <a:r>
                        <a:rPr lang="en-US" sz="1400" dirty="0">
                          <a:solidFill>
                            <a:srgbClr val="2C4A36"/>
                          </a:solidFill>
                        </a:rPr>
                        <a:t>CHAMELEON</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2C4A36"/>
                          </a:solidFill>
                        </a:rPr>
                        <a:t>76 images</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EEF3EA"/>
                    </a:solidFill>
                  </a:tcPr>
                </a:tc>
              </a:tr>
              <a:tr h="365760">
                <a:tc>
                  <a:txBody>
                    <a:bodyPr/>
                    <a:lstStyle/>
                    <a:p>
                      <a:pPr indent="0" marL="0">
                        <a:buNone/>
                      </a:pPr>
                      <a:r>
                        <a:rPr lang="en-US" sz="1400" dirty="0">
                          <a:solidFill>
                            <a:srgbClr val="2C4A36"/>
                          </a:solidFill>
                        </a:rPr>
                        <a:t>CAMO</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2C4A36"/>
                          </a:solidFill>
                        </a:rPr>
                        <a:t>250 images</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400" dirty="0">
                          <a:solidFill>
                            <a:srgbClr val="2C4A36"/>
                          </a:solidFill>
                        </a:rPr>
                        <a:t>COD10K</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2C4A36"/>
                          </a:solidFill>
                        </a:rPr>
                        <a:t>2,026 images</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EEF3EA"/>
                    </a:solidFill>
                  </a:tcPr>
                </a:tc>
              </a:tr>
              <a:tr h="365760">
                <a:tc>
                  <a:txBody>
                    <a:bodyPr/>
                    <a:lstStyle/>
                    <a:p>
                      <a:pPr indent="0" marL="0">
                        <a:buNone/>
                      </a:pPr>
                      <a:r>
                        <a:rPr lang="en-US" sz="1400" dirty="0">
                          <a:solidFill>
                            <a:srgbClr val="2C4A36"/>
                          </a:solidFill>
                        </a:rPr>
                        <a:t>NC4K</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2C4A36"/>
                          </a:solidFill>
                        </a:rPr>
                        <a:t>4,121 images</a:t>
                      </a:r>
                      <a:endParaRPr lang="en-US" sz="1400" dirty="0"/>
                    </a:p>
                  </a:txBody>
                  <a:tcPr marL="91440" marR="91440" marT="0" marB="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seen unseen"/>
          <p:cNvSpPr txBox="1"/>
          <p:nvPr/>
        </p:nvSpPr>
        <p:spPr>
          <a:xfrm>
            <a:off x="7089286" y="3337560"/>
            <a:ext cx="4553770" cy="1463040"/>
          </a:xfrm>
          <a:prstGeom prst="rect">
            <a:avLst/>
          </a:prstGeom>
          <a:noFill/>
          <a:ln/>
        </p:spPr>
        <p:txBody>
          <a:bodyPr wrap="square" lIns="0" tIns="0" rIns="0" bIns="0" rtlCol="0" anchor="t"/>
          <a:lstStyle/>
          <a:p>
            <a:pPr indent="0" marL="0">
              <a:buNone/>
            </a:pPr>
            <a:r>
              <a:rPr lang="en-US" sz="1500" b="1" dirty="0">
                <a:solidFill>
                  <a:srgbClr val="4F7A3A"/>
                </a:solidFill>
              </a:rPr>
              <a:t>Seen in training</a:t>
            </a:r>
            <a:endParaRPr lang="en-US" sz="1500" dirty="0"/>
          </a:p>
          <a:p>
            <a:pPr indent="0" marL="0">
              <a:buNone/>
            </a:pPr>
            <a:r>
              <a:rPr lang="en-US" sz="1500" dirty="0">
                <a:solidFill>
                  <a:schemeClr val="tx2"/>
                </a:solidFill>
              </a:rPr>
              <a:t>Gaussian noise, Gaussian blur, brightness, JPEG</a:t>
            </a:r>
            <a:endParaRPr lang="en-US" sz="1500" dirty="0"/>
          </a:p>
          <a:p>
            <a:pPr indent="0" marL="0">
              <a:buNone/>
            </a:pPr>
            <a:r>
              <a:rPr lang="en-US" sz="800" dirty="0">
                <a:solidFill>
                  <a:schemeClr val="tx2"/>
                </a:solidFill>
              </a:rPr>
              <a:t> </a:t>
            </a:r>
            <a:endParaRPr lang="en-US" sz="1500" dirty="0"/>
          </a:p>
          <a:p>
            <a:pPr indent="0" marL="0">
              <a:buNone/>
            </a:pPr>
            <a:r>
              <a:rPr lang="en-US" sz="1500" b="1" dirty="0">
                <a:solidFill>
                  <a:srgbClr val="D9532B"/>
                </a:solidFill>
              </a:rPr>
              <a:t>Held out (unseen)</a:t>
            </a:r>
            <a:endParaRPr lang="en-US" sz="1500" dirty="0"/>
          </a:p>
          <a:p>
            <a:pPr indent="0" marL="0">
              <a:buNone/>
            </a:pPr>
            <a:r>
              <a:rPr lang="en-US" sz="1500" dirty="0">
                <a:solidFill>
                  <a:schemeClr val="tx2"/>
                </a:solidFill>
              </a:rPr>
              <a:t>motion blur, contrast, fog, rain</a:t>
            </a:r>
            <a:endParaRPr lang="en-US" sz="1500" dirty="0"/>
          </a:p>
        </p:txBody>
      </p:sp>
      <p:sp>
        <p:nvSpPr>
          <p:cNvPr id="7" name="severity note"/>
          <p:cNvSpPr txBox="1"/>
          <p:nvPr/>
        </p:nvSpPr>
        <p:spPr>
          <a:xfrm>
            <a:off x="7089286" y="4983480"/>
            <a:ext cx="4553770" cy="731520"/>
          </a:xfrm>
          <a:prstGeom prst="rect">
            <a:avLst/>
          </a:prstGeom>
          <a:noFill/>
          <a:ln/>
        </p:spPr>
        <p:txBody>
          <a:bodyPr wrap="square" lIns="0" tIns="0" rIns="0" bIns="0" rtlCol="0" anchor="t"/>
          <a:lstStyle/>
          <a:p>
            <a:pPr indent="0" marL="0">
              <a:buNone/>
            </a:pPr>
            <a:r>
              <a:rPr lang="en-US" sz="1400" i="1" dirty="0">
                <a:solidFill>
                  <a:schemeClr val="accent6"/>
                </a:solidFill>
              </a:rPr>
              <a:t>Severity 1 to 5 follows the COD10K-C definitions; rain is our own addition.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Inputs in the demo app</a:t>
            </a:r>
            <a:endParaRPr lang="en-US" sz="3400" dirty="0"/>
          </a:p>
        </p:txBody>
      </p:sp>
      <p:pic>
        <p:nvPicPr>
          <p:cNvPr id="3" name="demo upload screenshot" descr="Gradio demo: photo upload and gallery of test images">    </p:cNvPr>
          <p:cNvPicPr>
            <a:picLocks noChangeAspect="1"/>
          </p:cNvPicPr>
          <p:nvPr/>
        </p:nvPicPr>
        <p:blipFill>
          <a:blip r:embed="rId1"/>
          <a:stretch>
            <a:fillRect/>
          </a:stretch>
        </p:blipFill>
        <p:spPr>
          <a:xfrm>
            <a:off x="548640" y="1280160"/>
            <a:ext cx="7269480" cy="3285836"/>
          </a:xfrm>
          <a:prstGeom prst="rect">
            <a:avLst/>
          </a:prstGeom>
        </p:spPr>
      </p:pic>
      <p:pic>
        <p:nvPicPr>
          <p:cNvPr id="4" name="demo controls screenshot" descr="Gradio demo: model choice, corruption and severity controls">    </p:cNvPr>
          <p:cNvPicPr>
            <a:picLocks noChangeAspect="1"/>
          </p:cNvPicPr>
          <p:nvPr/>
        </p:nvPicPr>
        <p:blipFill>
          <a:blip r:embed="rId2"/>
          <a:stretch>
            <a:fillRect/>
          </a:stretch>
        </p:blipFill>
        <p:spPr>
          <a:xfrm>
            <a:off x="8092440" y="1280160"/>
            <a:ext cx="3480898" cy="3291840"/>
          </a:xfrm>
          <a:prstGeom prst="rect">
            <a:avLst/>
          </a:prstGeom>
        </p:spPr>
      </p:pic>
      <p:sp>
        <p:nvSpPr>
          <p:cNvPr id="5" name="demo upload caption"/>
          <p:cNvSpPr txBox="1"/>
          <p:nvPr/>
        </p:nvSpPr>
        <p:spPr>
          <a:xfrm>
            <a:off x="548640" y="4754880"/>
            <a:ext cx="7269480" cy="822960"/>
          </a:xfrm>
          <a:prstGeom prst="rect">
            <a:avLst/>
          </a:prstGeom>
          <a:noFill/>
          <a:ln/>
        </p:spPr>
        <p:txBody>
          <a:bodyPr wrap="square" lIns="0" tIns="0" rIns="0" bIns="0" rtlCol="0" anchor="t"/>
          <a:lstStyle/>
          <a:p>
            <a:pPr indent="0" marL="0">
              <a:buNone/>
            </a:pPr>
            <a:r>
              <a:rPr lang="en-US" sz="1500" dirty="0">
                <a:solidFill>
                  <a:schemeClr val="tx2"/>
                </a:solidFill>
              </a:rPr>
              <a:t>Upload any photo, or pick one of 12 test images (COD10K, CAMO, CHAMELEON) or a photo from demo/my_photos.</a:t>
            </a:r>
            <a:endParaRPr lang="en-US" sz="1500" dirty="0"/>
          </a:p>
        </p:txBody>
      </p:sp>
      <p:sp>
        <p:nvSpPr>
          <p:cNvPr id="6" name="demo controls caption"/>
          <p:cNvSpPr txBox="1"/>
          <p:nvPr/>
        </p:nvSpPr>
        <p:spPr>
          <a:xfrm>
            <a:off x="8092440" y="4754880"/>
            <a:ext cx="3550615" cy="822960"/>
          </a:xfrm>
          <a:prstGeom prst="rect">
            <a:avLst/>
          </a:prstGeom>
          <a:noFill/>
          <a:ln/>
        </p:spPr>
        <p:txBody>
          <a:bodyPr wrap="square" lIns="0" tIns="0" rIns="0" bIns="0" rtlCol="0" anchor="t"/>
          <a:lstStyle/>
          <a:p>
            <a:pPr indent="0" marL="0">
              <a:buNone/>
            </a:pPr>
            <a:r>
              <a:rPr lang="en-US" sz="1500" dirty="0">
                <a:solidFill>
                  <a:schemeClr val="tx2"/>
                </a:solidFill>
              </a:rPr>
              <a:t>Tick up to 6 models, choose a corruption (UNSEEN ones were never used in training) and a severity from 0 to 5.</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Intermediate outputs of our model</a:t>
            </a:r>
            <a:endParaRPr lang="en-US" sz="3400" dirty="0"/>
          </a:p>
        </p:txBody>
      </p:sp>
      <p:pic>
        <p:nvPicPr>
          <p:cNvPr id="3" name="intermediate panel" descr="Eight stages from input to detection">    </p:cNvPr>
          <p:cNvPicPr>
            <a:picLocks noChangeAspect="1"/>
          </p:cNvPicPr>
          <p:nvPr/>
        </p:nvPicPr>
        <p:blipFill>
          <a:blip r:embed="rId1"/>
          <a:stretch>
            <a:fillRect/>
          </a:stretch>
        </p:blipFill>
        <p:spPr>
          <a:xfrm>
            <a:off x="1638148" y="1143000"/>
            <a:ext cx="8915400" cy="4754880"/>
          </a:xfrm>
          <a:prstGeom prst="rect">
            <a:avLst/>
          </a:prstGeom>
        </p:spPr>
      </p:pic>
      <p:sp>
        <p:nvSpPr>
          <p:cNvPr id="4" name="intermediate caption"/>
          <p:cNvSpPr txBox="1"/>
          <p:nvPr/>
        </p:nvSpPr>
        <p:spPr>
          <a:xfrm>
            <a:off x="548640" y="5971032"/>
            <a:ext cx="11094415" cy="365760"/>
          </a:xfrm>
          <a:prstGeom prst="rect">
            <a:avLst/>
          </a:prstGeom>
          <a:noFill/>
          <a:ln/>
        </p:spPr>
        <p:txBody>
          <a:bodyPr wrap="square" lIns="0" tIns="0" rIns="0" bIns="0" rtlCol="0" anchor="ctr"/>
          <a:lstStyle/>
          <a:p>
            <a:pPr indent="0" marL="0">
              <a:buNone/>
            </a:pPr>
            <a:r>
              <a:rPr lang="en-US" sz="1200" dirty="0">
                <a:solidFill>
                  <a:schemeClr val="accent6"/>
                </a:solidFill>
              </a:rPr>
              <a:t>Ours (512) on the slide-10 katydid under motion blur, severity 4 (unseen in training). Stages 3–5 are inside the network; sizes are height × width.</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Outputs: predicted masks under corruption</a:t>
            </a:r>
            <a:endParaRPr lang="en-US" sz="3400" dirty="0"/>
          </a:p>
        </p:txBody>
      </p:sp>
      <p:pic>
        <p:nvPicPr>
          <p:cNvPr id="3" name="qualitative grid" descr="Masks of six models on five corrupted COD10K images">    </p:cNvPr>
          <p:cNvPicPr>
            <a:picLocks noChangeAspect="1"/>
          </p:cNvPicPr>
          <p:nvPr/>
        </p:nvPicPr>
        <p:blipFill>
          <a:blip r:embed="rId1"/>
          <a:stretch>
            <a:fillRect/>
          </a:stretch>
        </p:blipFill>
        <p:spPr>
          <a:xfrm>
            <a:off x="1263393" y="1143000"/>
            <a:ext cx="9664910" cy="4754880"/>
          </a:xfrm>
          <a:prstGeom prst="rect">
            <a:avLst/>
          </a:prstGeom>
        </p:spPr>
      </p:pic>
      <p:sp>
        <p:nvSpPr>
          <p:cNvPr id="4" name="grid caption"/>
          <p:cNvSpPr txBox="1"/>
          <p:nvPr/>
        </p:nvSpPr>
        <p:spPr>
          <a:xfrm>
            <a:off x="548640" y="5971032"/>
            <a:ext cx="11094415" cy="365760"/>
          </a:xfrm>
          <a:prstGeom prst="rect">
            <a:avLst/>
          </a:prstGeom>
          <a:noFill/>
          <a:ln/>
        </p:spPr>
        <p:txBody>
          <a:bodyPr wrap="square" lIns="0" tIns="0" rIns="0" bIns="0" rtlCol="0" anchor="ctr"/>
          <a:lstStyle/>
          <a:p>
            <a:pPr indent="0" marL="0">
              <a:buNone/>
            </a:pPr>
            <a:r>
              <a:rPr lang="en-US" sz="1200" dirty="0">
                <a:solidFill>
                  <a:schemeClr val="accent6"/>
                </a:solidFill>
              </a:rPr>
              <a:t>Rows 1–3: images where Ours (512) has its median Sα. Rows 4–5: its lowest-scoring images (failure cases). Numbers: per-image Sα.</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Outputs: one image under increasing motion blur</a:t>
            </a:r>
            <a:endParaRPr lang="en-US" sz="3400" dirty="0"/>
          </a:p>
        </p:txBody>
      </p:sp>
      <p:pic>
        <p:nvPicPr>
          <p:cNvPr id="3" name="teaser" descr="Katydid under motion blur: SINet-V2 vs Ours (512)">    </p:cNvPr>
          <p:cNvPicPr>
            <a:picLocks noChangeAspect="1"/>
          </p:cNvPicPr>
          <p:nvPr/>
        </p:nvPicPr>
        <p:blipFill>
          <a:blip r:embed="rId1"/>
          <a:stretch>
            <a:fillRect/>
          </a:stretch>
        </p:blipFill>
        <p:spPr>
          <a:xfrm>
            <a:off x="548640" y="1188720"/>
            <a:ext cx="4565725" cy="5029200"/>
          </a:xfrm>
          <a:prstGeom prst="rect">
            <a:avLst/>
          </a:prstGeom>
        </p:spPr>
      </p:pic>
      <p:sp>
        <p:nvSpPr>
          <p:cNvPr id="4" name="teaser text"/>
          <p:cNvSpPr txBox="1"/>
          <p:nvPr/>
        </p:nvSpPr>
        <p:spPr>
          <a:xfrm>
            <a:off x="5571565" y="1325880"/>
            <a:ext cx="6071490" cy="2926080"/>
          </a:xfrm>
          <a:prstGeom prst="rect">
            <a:avLst/>
          </a:prstGeom>
          <a:noFill/>
          <a:ln/>
        </p:spPr>
        <p:txBody>
          <a:bodyPr wrap="square" lIns="0" tIns="0" rIns="0" bIns="0" rtlCol="0" anchor="t"/>
          <a:lstStyle/>
          <a:p>
            <a:pPr indent="0" marL="0">
              <a:buNone/>
            </a:pPr>
            <a:r>
              <a:rPr lang="en-US" sz="1600" dirty="0">
                <a:solidFill>
                  <a:schemeClr val="tx2"/>
                </a:solidFill>
              </a:rPr>
              <a:t>Motion blur is an unseen corruption: our model never saw it in training.</a:t>
            </a:r>
            <a:endParaRPr lang="en-US" sz="1600" dirty="0"/>
          </a:p>
          <a:p>
            <a:pPr indent="0" marL="0">
              <a:buNone/>
            </a:pPr>
            <a:r>
              <a:rPr lang="en-US" sz="800" dirty="0">
                <a:solidFill>
                  <a:schemeClr val="tx2"/>
                </a:solidFill>
              </a:rPr>
              <a:t> </a:t>
            </a:r>
            <a:endParaRPr lang="en-US" sz="1600" dirty="0"/>
          </a:p>
          <a:p>
            <a:pPr indent="0" marL="0">
              <a:buNone/>
            </a:pPr>
            <a:r>
              <a:rPr lang="en-US" sz="1600" dirty="0">
                <a:solidFill>
                  <a:schemeClr val="tx2"/>
                </a:solidFill>
              </a:rPr>
              <a:t>SINet-V2 finds only part of the katydid at every severity (Sα 0.663 → 0.658).</a:t>
            </a:r>
            <a:endParaRPr lang="en-US" sz="1600" dirty="0"/>
          </a:p>
          <a:p>
            <a:pPr indent="0" marL="0">
              <a:buNone/>
            </a:pPr>
            <a:r>
              <a:rPr lang="en-US" sz="800" dirty="0">
                <a:solidFill>
                  <a:schemeClr val="tx2"/>
                </a:solidFill>
              </a:rPr>
              <a:t> </a:t>
            </a:r>
            <a:endParaRPr lang="en-US" sz="1600" dirty="0"/>
          </a:p>
          <a:p>
            <a:pPr indent="0" marL="0">
              <a:buNone/>
            </a:pPr>
            <a:r>
              <a:rPr lang="en-US" sz="1600" dirty="0">
                <a:solidFill>
                  <a:schemeClr val="tx2"/>
                </a:solidFill>
              </a:rPr>
              <a:t>Ours (512) recovers its legs and wings (Sα 0.855 clean, 0.758 at severity 4).</a:t>
            </a:r>
            <a:endParaRPr lang="en-US" sz="1600" dirty="0"/>
          </a:p>
        </p:txBody>
      </p:sp>
      <p:sp>
        <p:nvSpPr>
          <p:cNvPr id="5" name="teaser note card"/>
          <p:cNvSpPr/>
          <p:nvPr/>
        </p:nvSpPr>
        <p:spPr>
          <a:xfrm>
            <a:off x="5571565" y="4526280"/>
            <a:ext cx="6071490" cy="1417320"/>
          </a:xfrm>
          <a:prstGeom prst="roundRect">
            <a:avLst>
              <a:gd name="adj" fmla="val 5161"/>
            </a:avLst>
          </a:prstGeom>
          <a:solidFill>
            <a:schemeClr val="bg2"/>
          </a:solidFill>
          <a:ln w="12700">
            <a:solidFill>
              <a:schemeClr val="bg2"/>
            </a:solidFill>
            <a:prstDash val="solid"/>
          </a:ln>
        </p:spPr>
      </p:sp>
      <p:sp>
        <p:nvSpPr>
          <p:cNvPr id="6" name="teaser note"/>
          <p:cNvSpPr txBox="1"/>
          <p:nvPr/>
        </p:nvSpPr>
        <p:spPr>
          <a:xfrm>
            <a:off x="5800165" y="4617720"/>
            <a:ext cx="5614290" cy="1234440"/>
          </a:xfrm>
          <a:prstGeom prst="rect">
            <a:avLst/>
          </a:prstGeom>
          <a:noFill/>
          <a:ln/>
        </p:spPr>
        <p:txBody>
          <a:bodyPr wrap="square" lIns="0" tIns="0" rIns="0" bIns="0" rtlCol="0" anchor="ctr"/>
          <a:lstStyle/>
          <a:p>
            <a:pPr indent="0" marL="0">
              <a:buNone/>
            </a:pPr>
            <a:r>
              <a:rPr lang="en-US" sz="1400" i="1" dirty="0">
                <a:solidFill>
                  <a:schemeClr val="tx2"/>
                </a:solidFill>
              </a:rPr>
              <a:t>Chosen by a fixed rule: the image at the 90th percentile of our gain over SINet-V2 under motion blur, a clear example but not the best one.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Outputs in the demo app: rain, severity 4</a:t>
            </a:r>
            <a:endParaRPr lang="en-US" sz="3400" dirty="0"/>
          </a:p>
        </p:txBody>
      </p:sp>
      <p:pic>
        <p:nvPicPr>
          <p:cNvPr id="3" name="demo corrupted input" descr="Pineapple photo with rain at severity 4, as fed to every model">    </p:cNvPr>
          <p:cNvPicPr>
            <a:picLocks noChangeAspect="1"/>
          </p:cNvPicPr>
          <p:nvPr/>
        </p:nvPicPr>
        <p:blipFill>
          <a:blip r:embed="rId1"/>
          <a:stretch>
            <a:fillRect/>
          </a:stretch>
        </p:blipFill>
        <p:spPr>
          <a:xfrm>
            <a:off x="548640" y="1234440"/>
            <a:ext cx="4114800" cy="4174122"/>
          </a:xfrm>
          <a:prstGeom prst="rect">
            <a:avLst/>
          </a:prstGeom>
        </p:spPr>
      </p:pic>
      <p:sp>
        <p:nvSpPr>
          <p:cNvPr id="4" name="demo input label"/>
          <p:cNvSpPr txBox="1"/>
          <p:nvPr/>
        </p:nvSpPr>
        <p:spPr>
          <a:xfrm>
            <a:off x="548640" y="5481714"/>
            <a:ext cx="4114800" cy="548640"/>
          </a:xfrm>
          <a:prstGeom prst="rect">
            <a:avLst/>
          </a:prstGeom>
          <a:noFill/>
          <a:ln/>
        </p:spPr>
        <p:txBody>
          <a:bodyPr wrap="square" lIns="0" tIns="0" rIns="0" bIns="0" rtlCol="0" anchor="t"/>
          <a:lstStyle/>
          <a:p>
            <a:pPr indent="0" marL="0">
              <a:buNone/>
            </a:pPr>
            <a:r>
              <a:rPr lang="en-US" sz="1200" dirty="0">
                <a:solidFill>
                  <a:schemeClr val="accent6"/>
                </a:solidFill>
              </a:rPr>
              <a:t>Input after the corruption (rain is unseen in training)</a:t>
            </a:r>
            <a:endParaRPr lang="en-US" sz="1200" dirty="0"/>
          </a:p>
        </p:txBody>
      </p:sp>
      <p:pic>
        <p:nvPicPr>
          <p:cNvPr id="5" name="demo rain outputs" descr="SINet-V2, SAM2-UNet and Ours-Full overlays with latency">    </p:cNvPr>
          <p:cNvPicPr>
            <a:picLocks noChangeAspect="1"/>
          </p:cNvPicPr>
          <p:nvPr/>
        </p:nvPicPr>
        <p:blipFill>
          <a:blip r:embed="rId2"/>
          <a:stretch>
            <a:fillRect/>
          </a:stretch>
        </p:blipFill>
        <p:spPr>
          <a:xfrm>
            <a:off x="4983480" y="1234440"/>
            <a:ext cx="6659575" cy="2407554"/>
          </a:xfrm>
          <a:prstGeom prst="rect">
            <a:avLst/>
          </a:prstGeom>
        </p:spPr>
      </p:pic>
      <p:sp>
        <p:nvSpPr>
          <p:cNvPr id="6" name="demo rain text"/>
          <p:cNvSpPr txBox="1"/>
          <p:nvPr/>
        </p:nvSpPr>
        <p:spPr>
          <a:xfrm>
            <a:off x="4983480" y="3870594"/>
            <a:ext cx="6659575" cy="2255886"/>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A CAMO test image: a face painted to look like a pineapple.</a:t>
            </a:r>
            <a:endParaRPr lang="en-US" sz="1500" dirty="0"/>
          </a:p>
          <a:p>
            <a:pPr marL="342900" indent="-342900">
              <a:spcAft>
                <a:spcPts val="600"/>
              </a:spcAft>
              <a:buSzPct val="100000"/>
              <a:buChar char="•"/>
            </a:pPr>
            <a:r>
              <a:rPr lang="en-US" sz="1500" dirty="0">
                <a:solidFill>
                  <a:schemeClr val="tx2"/>
                </a:solidFill>
              </a:rPr>
              <a:t>SINet-V2 marks almost every pineapple; SAM2-UNet and Ours-Full pick out the painted face.</a:t>
            </a:r>
            <a:endParaRPr lang="en-US" sz="1500" dirty="0"/>
          </a:p>
          <a:p>
            <a:pPr marL="342900" indent="-342900">
              <a:spcAft>
                <a:spcPts val="600"/>
              </a:spcAft>
              <a:buSzPct val="100000"/>
              <a:buChar char="•"/>
            </a:pPr>
            <a:r>
              <a:rPr lang="en-US" sz="1500" dirty="0">
                <a:solidFill>
                  <a:schemeClr val="tx2"/>
                </a:solidFill>
              </a:rPr>
              <a:t>Latency shown by the app: SINet-V2 114 ms, SAM2-UNet 166 ms, Ours-Full 51 ms. It includes pre- and post-processing, so it is higher than the benchmark timing.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Outputs in the demo app, with ground truth</a:t>
            </a:r>
            <a:endParaRPr lang="en-US" sz="3400" dirty="0"/>
          </a:p>
        </p:txBody>
      </p:sp>
      <p:pic>
        <p:nvPicPr>
          <p:cNvPr id="3" name="demo spider" descr="Spider under rain: SINet-V2, SAM2-UNet and Ours-Full with per-image scores">    </p:cNvPr>
          <p:cNvPicPr>
            <a:picLocks noChangeAspect="1"/>
          </p:cNvPicPr>
          <p:nvPr/>
        </p:nvPicPr>
        <p:blipFill>
          <a:blip r:embed="rId1"/>
          <a:stretch>
            <a:fillRect/>
          </a:stretch>
        </p:blipFill>
        <p:spPr>
          <a:xfrm>
            <a:off x="548640" y="1188720"/>
            <a:ext cx="5486933" cy="2514600"/>
          </a:xfrm>
          <a:prstGeom prst="rect">
            <a:avLst/>
          </a:prstGeom>
        </p:spPr>
      </p:pic>
      <p:pic>
        <p:nvPicPr>
          <p:cNvPr id="4" name="demo branch" descr="Animal on a branch under rain: three models with per-image scores">    </p:cNvPr>
          <p:cNvPicPr>
            <a:picLocks noChangeAspect="1"/>
          </p:cNvPicPr>
          <p:nvPr/>
        </p:nvPicPr>
        <p:blipFill>
          <a:blip r:embed="rId2"/>
          <a:stretch>
            <a:fillRect/>
          </a:stretch>
        </p:blipFill>
        <p:spPr>
          <a:xfrm>
            <a:off x="548640" y="3886200"/>
            <a:ext cx="5470358" cy="2514600"/>
          </a:xfrm>
          <a:prstGeom prst="rect">
            <a:avLst/>
          </a:prstGeom>
        </p:spPr>
      </p:pic>
      <p:sp>
        <p:nvSpPr>
          <p:cNvPr id="5" name="demo spider card"/>
          <p:cNvSpPr/>
          <p:nvPr/>
        </p:nvSpPr>
        <p:spPr>
          <a:xfrm>
            <a:off x="6447053" y="1188720"/>
            <a:ext cx="5196002" cy="2331720"/>
          </a:xfrm>
          <a:prstGeom prst="roundRect">
            <a:avLst>
              <a:gd name="adj" fmla="val 3137"/>
            </a:avLst>
          </a:prstGeom>
          <a:solidFill>
            <a:schemeClr val="bg2"/>
          </a:solidFill>
          <a:ln w="12700">
            <a:solidFill>
              <a:schemeClr val="bg2"/>
            </a:solidFill>
            <a:prstDash val="solid"/>
          </a:ln>
        </p:spPr>
      </p:sp>
      <p:sp>
        <p:nvSpPr>
          <p:cNvPr id="6" name="demo spider text"/>
          <p:cNvSpPr txBox="1"/>
          <p:nvPr/>
        </p:nvSpPr>
        <p:spPr>
          <a:xfrm>
            <a:off x="6675653" y="1325880"/>
            <a:ext cx="4738802" cy="2057400"/>
          </a:xfrm>
          <a:prstGeom prst="rect">
            <a:avLst/>
          </a:prstGeom>
          <a:noFill/>
          <a:ln/>
        </p:spPr>
        <p:txBody>
          <a:bodyPr wrap="square" lIns="0" tIns="0" rIns="0" bIns="0" rtlCol="0" anchor="t"/>
          <a:lstStyle/>
          <a:p>
            <a:pPr indent="0" marL="0">
              <a:buNone/>
            </a:pPr>
            <a:r>
              <a:rPr lang="en-US" sz="1700" b="1" dirty="0">
                <a:solidFill>
                  <a:srgbClr val="1B2A21"/>
                </a:solidFill>
              </a:rPr>
              <a:t>Top: a spider in dry grass</a:t>
            </a:r>
            <a:endParaRPr lang="en-US" sz="1700" dirty="0"/>
          </a:p>
          <a:p>
            <a:pPr indent="0" marL="0">
              <a:buNone/>
            </a:pPr>
            <a:r>
              <a:rPr lang="en-US" sz="1700" dirty="0">
                <a:solidFill>
                  <a:schemeClr val="tx2"/>
                </a:solidFill>
              </a:rPr>
              <a:t>Ours-Full scores highest on this image (S-measure 0.851, against 0.790 for SAM2-UNet and 0.683 for SINet-V2).</a:t>
            </a:r>
            <a:endParaRPr lang="en-US" sz="1700" dirty="0"/>
          </a:p>
        </p:txBody>
      </p:sp>
      <p:sp>
        <p:nvSpPr>
          <p:cNvPr id="7" name="demo branch card"/>
          <p:cNvSpPr/>
          <p:nvPr/>
        </p:nvSpPr>
        <p:spPr>
          <a:xfrm>
            <a:off x="6447053" y="3703320"/>
            <a:ext cx="5196002" cy="2331720"/>
          </a:xfrm>
          <a:prstGeom prst="roundRect">
            <a:avLst>
              <a:gd name="adj" fmla="val 3137"/>
            </a:avLst>
          </a:prstGeom>
          <a:solidFill>
            <a:schemeClr val="bg2"/>
          </a:solidFill>
          <a:ln w="12700">
            <a:solidFill>
              <a:schemeClr val="bg2"/>
            </a:solidFill>
            <a:prstDash val="solid"/>
          </a:ln>
        </p:spPr>
      </p:sp>
      <p:sp>
        <p:nvSpPr>
          <p:cNvPr id="8" name="demo branch text"/>
          <p:cNvSpPr txBox="1"/>
          <p:nvPr/>
        </p:nvSpPr>
        <p:spPr>
          <a:xfrm>
            <a:off x="6675653" y="3840480"/>
            <a:ext cx="4738802" cy="2057400"/>
          </a:xfrm>
          <a:prstGeom prst="rect">
            <a:avLst/>
          </a:prstGeom>
          <a:noFill/>
          <a:ln/>
        </p:spPr>
        <p:txBody>
          <a:bodyPr wrap="square" lIns="0" tIns="0" rIns="0" bIns="0" rtlCol="0" anchor="t"/>
          <a:lstStyle/>
          <a:p>
            <a:pPr indent="0" marL="0">
              <a:buNone/>
            </a:pPr>
            <a:r>
              <a:rPr lang="en-US" sz="1700" b="1" dirty="0">
                <a:solidFill>
                  <a:srgbClr val="1B2A21"/>
                </a:solidFill>
              </a:rPr>
              <a:t>Bottom: an animal on a branch</a:t>
            </a:r>
            <a:endParaRPr lang="en-US" sz="1700" dirty="0"/>
          </a:p>
          <a:p>
            <a:pPr indent="0" marL="0">
              <a:buNone/>
            </a:pPr>
            <a:r>
              <a:rPr lang="en-US" sz="1700" dirty="0">
                <a:solidFill>
                  <a:schemeClr val="tx2"/>
                </a:solidFill>
              </a:rPr>
              <a:t>Here SINet-V2 is best (0.878; Ours-Full 0.803, SAM2-UNet 0.759). Single images go either way; the benchmark averages thousands.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Performance: accuracy under corruption (COD10K)</a:t>
            </a:r>
            <a:endParaRPr lang="en-US" sz="3400" dirty="0"/>
          </a:p>
        </p:txBody>
      </p:sp>
      <p:graphicFrame>
        <p:nvGraphicFramePr>
          <p:cNvPr id="3" name="accuracy chart" descr=""/>
          <p:cNvGraphicFramePr/>
          <p:nvPr/>
        </p:nvGraphicFramePr>
        <p:xfrm>
          <a:off x="548640" y="1188720"/>
          <a:ext cx="7315200" cy="5029200"/>
        </p:xfrm>
        <a:graphic xmlns:a="http://schemas.openxmlformats.org/drawingml/2006/main">
          <a:graphicData uri="http://schemas.openxmlformats.org/drawingml/2006/chart">
            <c:chart xmlns:c="http://schemas.openxmlformats.org/drawingml/2006/chart" r:id="rId1"/>
          </a:graphicData>
        </a:graphic>
      </p:graphicFrame>
      <p:sp>
        <p:nvSpPr>
          <p:cNvPr id="4" name="stat vs sinet card"/>
          <p:cNvSpPr/>
          <p:nvPr/>
        </p:nvSpPr>
        <p:spPr>
          <a:xfrm>
            <a:off x="8229600" y="1280160"/>
            <a:ext cx="3413455" cy="1325880"/>
          </a:xfrm>
          <a:prstGeom prst="roundRect">
            <a:avLst>
              <a:gd name="adj" fmla="val 5517"/>
            </a:avLst>
          </a:prstGeom>
          <a:solidFill>
            <a:schemeClr val="bg2"/>
          </a:solidFill>
          <a:ln w="12700">
            <a:solidFill>
              <a:schemeClr val="bg2"/>
            </a:solidFill>
            <a:prstDash val="solid"/>
          </a:ln>
        </p:spPr>
      </p:sp>
      <p:sp>
        <p:nvSpPr>
          <p:cNvPr id="5" name="stat vs sinet value"/>
          <p:cNvSpPr txBox="1"/>
          <p:nvPr/>
        </p:nvSpPr>
        <p:spPr>
          <a:xfrm>
            <a:off x="8458200" y="1389888"/>
            <a:ext cx="2956255"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+0.017</a:t>
            </a:r>
            <a:endParaRPr lang="en-US" sz="3200" dirty="0"/>
          </a:p>
        </p:txBody>
      </p:sp>
      <p:sp>
        <p:nvSpPr>
          <p:cNvPr id="6" name="stat vs sinet label"/>
          <p:cNvSpPr txBox="1"/>
          <p:nvPr/>
        </p:nvSpPr>
        <p:spPr>
          <a:xfrm>
            <a:off x="8458200" y="2057400"/>
            <a:ext cx="2956255" cy="457200"/>
          </a:xfrm>
          <a:prstGeom prst="rect">
            <a:avLst/>
          </a:prstGeom>
          <a:noFill/>
          <a:ln/>
        </p:spPr>
        <p:txBody>
          <a:bodyPr wrap="square" lIns="0" tIns="0" rIns="0" bIns="0" rtlCol="0" anchor="t"/>
          <a:lstStyle/>
          <a:p>
            <a:pPr indent="0" marL="0">
              <a:buNone/>
            </a:pPr>
            <a:r>
              <a:rPr lang="en-US" sz="1400" dirty="0">
                <a:solidFill>
                  <a:schemeClr val="tx2"/>
                </a:solidFill>
              </a:rPr>
              <a:t>Ours (1024) vs SINet-V2 under corruption (95% CI +0.013 to +0.021)</a:t>
            </a:r>
            <a:endParaRPr lang="en-US" sz="1400" dirty="0"/>
          </a:p>
        </p:txBody>
      </p:sp>
      <p:sp>
        <p:nvSpPr>
          <p:cNvPr id="7" name="stat vs sam2unet card"/>
          <p:cNvSpPr/>
          <p:nvPr/>
        </p:nvSpPr>
        <p:spPr>
          <a:xfrm>
            <a:off x="8229600" y="2926080"/>
            <a:ext cx="3413455" cy="1325880"/>
          </a:xfrm>
          <a:prstGeom prst="roundRect">
            <a:avLst>
              <a:gd name="adj" fmla="val 5517"/>
            </a:avLst>
          </a:prstGeom>
          <a:solidFill>
            <a:schemeClr val="bg2"/>
          </a:solidFill>
          <a:ln w="12700">
            <a:solidFill>
              <a:schemeClr val="bg2"/>
            </a:solidFill>
            <a:prstDash val="solid"/>
          </a:ln>
        </p:spPr>
      </p:sp>
      <p:sp>
        <p:nvSpPr>
          <p:cNvPr id="8" name="stat vs sam2unet value"/>
          <p:cNvSpPr txBox="1"/>
          <p:nvPr/>
        </p:nvSpPr>
        <p:spPr>
          <a:xfrm>
            <a:off x="8458200" y="3035808"/>
            <a:ext cx="2956255" cy="68580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−0.054</a:t>
            </a:r>
            <a:endParaRPr lang="en-US" sz="3200" dirty="0"/>
          </a:p>
        </p:txBody>
      </p:sp>
      <p:sp>
        <p:nvSpPr>
          <p:cNvPr id="9" name="stat vs sam2unet label"/>
          <p:cNvSpPr txBox="1"/>
          <p:nvPr/>
        </p:nvSpPr>
        <p:spPr>
          <a:xfrm>
            <a:off x="8458200" y="3703320"/>
            <a:ext cx="2956255" cy="457200"/>
          </a:xfrm>
          <a:prstGeom prst="rect">
            <a:avLst/>
          </a:prstGeom>
          <a:noFill/>
          <a:ln/>
        </p:spPr>
        <p:txBody>
          <a:bodyPr wrap="square" lIns="0" tIns="0" rIns="0" bIns="0" rtlCol="0" anchor="t"/>
          <a:lstStyle/>
          <a:p>
            <a:pPr indent="0" marL="0">
              <a:buNone/>
            </a:pPr>
            <a:r>
              <a:rPr lang="en-US" sz="1400" dirty="0">
                <a:solidFill>
                  <a:schemeClr val="tx2"/>
                </a:solidFill>
              </a:rPr>
              <a:t>Ours (1024) vs SAM2-UNet (216.5 M params): still behind</a:t>
            </a:r>
            <a:endParaRPr lang="en-US" sz="1400" dirty="0"/>
          </a:p>
        </p:txBody>
      </p:sp>
      <p:sp>
        <p:nvSpPr>
          <p:cNvPr id="10" name="stat unseen card"/>
          <p:cNvSpPr/>
          <p:nvPr/>
        </p:nvSpPr>
        <p:spPr>
          <a:xfrm>
            <a:off x="8229600" y="4572000"/>
            <a:ext cx="3413455" cy="1325880"/>
          </a:xfrm>
          <a:prstGeom prst="roundRect">
            <a:avLst>
              <a:gd name="adj" fmla="val 5517"/>
            </a:avLst>
          </a:prstGeom>
          <a:solidFill>
            <a:schemeClr val="bg2"/>
          </a:solidFill>
          <a:ln w="12700">
            <a:solidFill>
              <a:schemeClr val="bg2"/>
            </a:solidFill>
            <a:prstDash val="solid"/>
          </a:ln>
        </p:spPr>
      </p:sp>
      <p:sp>
        <p:nvSpPr>
          <p:cNvPr id="11" name="stat unseen value"/>
          <p:cNvSpPr txBox="1"/>
          <p:nvPr/>
        </p:nvSpPr>
        <p:spPr>
          <a:xfrm>
            <a:off x="8458200" y="4681728"/>
            <a:ext cx="2956255"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+0.005</a:t>
            </a:r>
            <a:endParaRPr lang="en-US" sz="3200" dirty="0"/>
          </a:p>
        </p:txBody>
      </p:sp>
      <p:sp>
        <p:nvSpPr>
          <p:cNvPr id="12" name="stat unseen label"/>
          <p:cNvSpPr txBox="1"/>
          <p:nvPr/>
        </p:nvSpPr>
        <p:spPr>
          <a:xfrm>
            <a:off x="8458200" y="5349240"/>
            <a:ext cx="2956255" cy="457200"/>
          </a:xfrm>
          <a:prstGeom prst="rect">
            <a:avLst/>
          </a:prstGeom>
          <a:noFill/>
          <a:ln/>
        </p:spPr>
        <p:txBody>
          <a:bodyPr wrap="square" lIns="0" tIns="0" rIns="0" bIns="0" rtlCol="0" anchor="t"/>
          <a:lstStyle/>
          <a:p>
            <a:pPr indent="0" marL="0">
              <a:buNone/>
            </a:pPr>
            <a:r>
              <a:rPr lang="en-US" sz="1400" dirty="0">
                <a:solidFill>
                  <a:schemeClr val="tx2"/>
                </a:solidFill>
              </a:rPr>
              <a:t>on unseen corruptions, from augmentation + consistency loss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Performance: speed and memory on the laptop GPU</a:t>
            </a:r>
            <a:endParaRPr lang="en-US" sz="3400" dirty="0"/>
          </a:p>
        </p:txBody>
      </p:sp>
      <p:graphicFrame>
        <p:nvGraphicFramePr>
          <p:cNvPr id="16" name="efficiency table"/>
          <p:cNvGraphicFramePr>
            <a:graphicFrameLocks noGrp="1"/>
          </p:cNvGraphicFramePr>
          <p:nvPr>
            <p:extLst>
              <p:ext uri="{D42A27DB-BD31-4B8C-83A1-F6EECF244321}">
                <p14:modId xmlns:p14="http://schemas.microsoft.com/office/powerpoint/2010/main" val="1579011935"/>
              </p:ext>
            </p:extLst>
          </p:nvPr>
        </p:nvGraphicFramePr>
        <p:xfrm>
          <a:off x="548640" y="1234440"/>
          <a:ext cx="7589520" cy="914400"/>
        </p:xfrm>
        <a:graphic>
          <a:graphicData uri="http://schemas.openxmlformats.org/drawingml/2006/table">
            <a:tbl>
              <a:tblPr/>
              <a:tblGrid>
                <a:gridCol w="1828800"/>
                <a:gridCol w="1051560"/>
                <a:gridCol w="1188720"/>
                <a:gridCol w="822960"/>
                <a:gridCol w="1325880"/>
                <a:gridCol w="137160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Params (M)</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Latency (ms)</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FPS</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Peak VRAM (MB)</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Sα under corruption</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SINet-V2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27.0</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28.6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35.0</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134</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0.795</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PFNet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46.5</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37.8</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26.4</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258</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0.773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ZoomNet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32.4</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94.4</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10.6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410</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0.803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SAM2-UNet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216.5</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71.3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14.0</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879</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0.866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SAM-Adapter</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641.3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3840.6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2477</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0.853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r>
              <a:tr h="45720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Ours (1024)</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10.3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45.6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21.9</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181</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0.812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r>
              <a:tr h="45720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Ours (512)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10.3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23.1</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43.2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87</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0.805</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r>
            </a:tbl>
          </a:graphicData>
        </a:graphic>
      </p:graphicFrame>
      <p:sp>
        <p:nvSpPr>
          <p:cNvPr id="4" name="efficiency note"/>
          <p:cNvSpPr txBox="1"/>
          <p:nvPr/>
        </p:nvSpPr>
        <p:spPr>
          <a:xfrm>
            <a:off x="548640" y="5029200"/>
            <a:ext cx="7589520" cy="548640"/>
          </a:xfrm>
          <a:prstGeom prst="rect">
            <a:avLst/>
          </a:prstGeom>
          <a:noFill/>
          <a:ln/>
        </p:spPr>
        <p:txBody>
          <a:bodyPr wrap="square" lIns="0" tIns="0" rIns="0" bIns="0" rtlCol="0" anchor="t"/>
          <a:lstStyle/>
          <a:p>
            <a:pPr indent="0" marL="0">
              <a:buNone/>
            </a:pPr>
            <a:r>
              <a:rPr lang="en-US" sz="1200" dirty="0">
                <a:solidFill>
                  <a:schemeClr val="accent6"/>
                </a:solidFill>
              </a:rPr>
              <a:t>Batch size 1, image 768×1024, NVIDIA GeForce RTX 3050 Laptop GPU. SAM-based models and ours in fp16, CNNs in fp32.</a:t>
            </a:r>
            <a:endParaRPr lang="en-US" sz="1200" dirty="0"/>
          </a:p>
        </p:txBody>
      </p:sp>
      <p:sp>
        <p:nvSpPr>
          <p:cNvPr id="5" name="stat latency card"/>
          <p:cNvSpPr/>
          <p:nvPr/>
        </p:nvSpPr>
        <p:spPr>
          <a:xfrm>
            <a:off x="8503920" y="1280160"/>
            <a:ext cx="3139135" cy="1325880"/>
          </a:xfrm>
          <a:prstGeom prst="roundRect">
            <a:avLst>
              <a:gd name="adj" fmla="val 5517"/>
            </a:avLst>
          </a:prstGeom>
          <a:solidFill>
            <a:schemeClr val="bg2"/>
          </a:solidFill>
          <a:ln w="12700">
            <a:solidFill>
              <a:schemeClr val="bg2"/>
            </a:solidFill>
            <a:prstDash val="solid"/>
          </a:ln>
        </p:spPr>
      </p:sp>
      <p:sp>
        <p:nvSpPr>
          <p:cNvPr id="6" name="stat latency value"/>
          <p:cNvSpPr txBox="1"/>
          <p:nvPr/>
        </p:nvSpPr>
        <p:spPr>
          <a:xfrm>
            <a:off x="8732520" y="1389888"/>
            <a:ext cx="2681935"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23.1 ms</a:t>
            </a:r>
            <a:endParaRPr lang="en-US" sz="3200" dirty="0"/>
          </a:p>
        </p:txBody>
      </p:sp>
      <p:sp>
        <p:nvSpPr>
          <p:cNvPr id="7" name="stat latency label"/>
          <p:cNvSpPr txBox="1"/>
          <p:nvPr/>
        </p:nvSpPr>
        <p:spPr>
          <a:xfrm>
            <a:off x="8732520" y="2057400"/>
            <a:ext cx="2681935" cy="457200"/>
          </a:xfrm>
          <a:prstGeom prst="rect">
            <a:avLst/>
          </a:prstGeom>
          <a:noFill/>
          <a:ln/>
        </p:spPr>
        <p:txBody>
          <a:bodyPr wrap="square" lIns="0" tIns="0" rIns="0" bIns="0" rtlCol="0" anchor="t"/>
          <a:lstStyle/>
          <a:p>
            <a:pPr indent="0" marL="0">
              <a:buNone/>
            </a:pPr>
            <a:r>
              <a:rPr lang="en-US" sz="1400" dirty="0">
                <a:solidFill>
                  <a:schemeClr val="tx2"/>
                </a:solidFill>
              </a:rPr>
              <a:t>per image for Ours (512): 43 FPS</a:t>
            </a:r>
            <a:endParaRPr lang="en-US" sz="1400" dirty="0"/>
          </a:p>
        </p:txBody>
      </p:sp>
      <p:sp>
        <p:nvSpPr>
          <p:cNvPr id="8" name="stat vram card"/>
          <p:cNvSpPr/>
          <p:nvPr/>
        </p:nvSpPr>
        <p:spPr>
          <a:xfrm>
            <a:off x="8503920" y="2926080"/>
            <a:ext cx="3139135" cy="1325880"/>
          </a:xfrm>
          <a:prstGeom prst="roundRect">
            <a:avLst>
              <a:gd name="adj" fmla="val 5517"/>
            </a:avLst>
          </a:prstGeom>
          <a:solidFill>
            <a:schemeClr val="bg2"/>
          </a:solidFill>
          <a:ln w="12700">
            <a:solidFill>
              <a:schemeClr val="bg2"/>
            </a:solidFill>
            <a:prstDash val="solid"/>
          </a:ln>
        </p:spPr>
      </p:sp>
      <p:sp>
        <p:nvSpPr>
          <p:cNvPr id="9" name="stat vram value"/>
          <p:cNvSpPr txBox="1"/>
          <p:nvPr/>
        </p:nvSpPr>
        <p:spPr>
          <a:xfrm>
            <a:off x="8732520" y="3035808"/>
            <a:ext cx="2681935"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87 MB</a:t>
            </a:r>
            <a:endParaRPr lang="en-US" sz="3200" dirty="0"/>
          </a:p>
        </p:txBody>
      </p:sp>
      <p:sp>
        <p:nvSpPr>
          <p:cNvPr id="10" name="stat vram label"/>
          <p:cNvSpPr txBox="1"/>
          <p:nvPr/>
        </p:nvSpPr>
        <p:spPr>
          <a:xfrm>
            <a:off x="8732520" y="3703320"/>
            <a:ext cx="2681935" cy="457200"/>
          </a:xfrm>
          <a:prstGeom prst="rect">
            <a:avLst/>
          </a:prstGeom>
          <a:noFill/>
          <a:ln/>
        </p:spPr>
        <p:txBody>
          <a:bodyPr wrap="square" lIns="0" tIns="0" rIns="0" bIns="0" rtlCol="0" anchor="t"/>
          <a:lstStyle/>
          <a:p>
            <a:pPr indent="0" marL="0">
              <a:buNone/>
            </a:pPr>
            <a:r>
              <a:rPr lang="en-US" sz="1400" dirty="0">
                <a:solidFill>
                  <a:schemeClr val="tx2"/>
                </a:solidFill>
              </a:rPr>
              <a:t>peak GPU memory for Ours (512)</a:t>
            </a:r>
            <a:endParaRPr lang="en-US" sz="1400" dirty="0"/>
          </a:p>
        </p:txBody>
      </p:sp>
      <p:sp>
        <p:nvSpPr>
          <p:cNvPr id="11" name="stat train card"/>
          <p:cNvSpPr/>
          <p:nvPr/>
        </p:nvSpPr>
        <p:spPr>
          <a:xfrm>
            <a:off x="8503920" y="4572000"/>
            <a:ext cx="3139135" cy="1325880"/>
          </a:xfrm>
          <a:prstGeom prst="roundRect">
            <a:avLst>
              <a:gd name="adj" fmla="val 5517"/>
            </a:avLst>
          </a:prstGeom>
          <a:solidFill>
            <a:schemeClr val="bg2"/>
          </a:solidFill>
          <a:ln w="12700">
            <a:solidFill>
              <a:schemeClr val="bg2"/>
            </a:solidFill>
            <a:prstDash val="solid"/>
          </a:ln>
        </p:spPr>
      </p:sp>
      <p:sp>
        <p:nvSpPr>
          <p:cNvPr id="12" name="stat train value"/>
          <p:cNvSpPr txBox="1"/>
          <p:nvPr/>
        </p:nvSpPr>
        <p:spPr>
          <a:xfrm>
            <a:off x="8732520" y="4681728"/>
            <a:ext cx="2681935"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2.6 h</a:t>
            </a:r>
            <a:endParaRPr lang="en-US" sz="3200" dirty="0"/>
          </a:p>
        </p:txBody>
      </p:sp>
      <p:sp>
        <p:nvSpPr>
          <p:cNvPr id="13" name="stat train label"/>
          <p:cNvSpPr txBox="1"/>
          <p:nvPr/>
        </p:nvSpPr>
        <p:spPr>
          <a:xfrm>
            <a:off x="8732520" y="5349240"/>
            <a:ext cx="2681935" cy="457200"/>
          </a:xfrm>
          <a:prstGeom prst="rect">
            <a:avLst/>
          </a:prstGeom>
          <a:noFill/>
          <a:ln/>
        </p:spPr>
        <p:txBody>
          <a:bodyPr wrap="square" lIns="0" tIns="0" rIns="0" bIns="0" rtlCol="0" anchor="t"/>
          <a:lstStyle/>
          <a:p>
            <a:pPr indent="0" marL="0">
              <a:buNone/>
            </a:pPr>
            <a:r>
              <a:rPr lang="en-US" sz="1400" dirty="0">
                <a:solidFill>
                  <a:schemeClr val="tx2"/>
                </a:solidFill>
              </a:rPr>
              <a:t>to train Ours (512) on the 4 GB GPU (1024: 8.5 h)</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Performance on all four test sets</a:t>
            </a:r>
            <a:endParaRPr lang="en-US" sz="3400" dirty="0"/>
          </a:p>
        </p:txBody>
      </p:sp>
      <p:graphicFrame>
        <p:nvGraphicFramePr>
          <p:cNvPr id="17" name="datasets table"/>
          <p:cNvGraphicFramePr>
            <a:graphicFrameLocks noGrp="1"/>
          </p:cNvGraphicFramePr>
          <p:nvPr>
            <p:extLst>
              <p:ext uri="{D42A27DB-BD31-4B8C-83A1-F6EECF244321}">
                <p14:modId xmlns:p14="http://schemas.microsoft.com/office/powerpoint/2010/main" val="1579011935"/>
              </p:ext>
            </p:extLst>
          </p:nvPr>
        </p:nvGraphicFramePr>
        <p:xfrm>
          <a:off x="548640" y="1234440"/>
          <a:ext cx="7589520" cy="914400"/>
        </p:xfrm>
        <a:graphic>
          <a:graphicData uri="http://schemas.openxmlformats.org/drawingml/2006/table">
            <a:tbl>
              <a:tblPr/>
              <a:tblGrid>
                <a:gridCol w="2468880"/>
                <a:gridCol w="1280160"/>
                <a:gridCol w="1280160"/>
                <a:gridCol w="1280160"/>
                <a:gridCol w="128016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Sα under corruption</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CHAMELEON</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CAMO</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COD10K</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NC4K</a:t>
                      </a:r>
                      <a:endParaRPr lang="en-US" sz="15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2C4A36"/>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SINet-V2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0.870</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0.791</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0.795</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0.826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PFNet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0.849</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0.746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0.773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0.801</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ZoomNet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0.867</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0.771</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0.803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0.822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SAM2-UNet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0.860</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0.866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b="1" dirty="0">
                          <a:solidFill>
                            <a:srgbClr val="1B2A21"/>
                          </a:solidFill>
                          <a:latin typeface="Calibri" pitchFamily="34" charset="0"/>
                          <a:ea typeface="Calibri" pitchFamily="34" charset="-122"/>
                          <a:cs typeface="Calibri" pitchFamily="34" charset="-120"/>
                        </a:rPr>
                        <a:t>0.887</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dirty="0">
                          <a:solidFill>
                            <a:srgbClr val="1B2A21"/>
                          </a:solidFill>
                          <a:latin typeface="Calibri" pitchFamily="34" charset="0"/>
                          <a:ea typeface="Calibri" pitchFamily="34" charset="-122"/>
                          <a:cs typeface="Calibri" pitchFamily="34" charset="-120"/>
                        </a:rPr>
                        <a:t>SAM-Adapter</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0.857</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0.811</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0.853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EEF3EA"/>
                    </a:solidFill>
                  </a:tcPr>
                </a:tc>
              </a:tr>
              <a:tr h="45720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Ours (1024)</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0.847</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0.785</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D9532B"/>
                          </a:solidFill>
                          <a:latin typeface="Calibri" pitchFamily="34" charset="0"/>
                          <a:ea typeface="Calibri" pitchFamily="34" charset="-122"/>
                          <a:cs typeface="Calibri" pitchFamily="34" charset="-120"/>
                        </a:rPr>
                        <a:t>0.812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D9532B"/>
                          </a:solidFill>
                          <a:latin typeface="Calibri" pitchFamily="34" charset="0"/>
                          <a:ea typeface="Calibri" pitchFamily="34" charset="-122"/>
                          <a:cs typeface="Calibri" pitchFamily="34" charset="-120"/>
                        </a:rPr>
                        <a:t>0.836</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r>
              <a:tr h="457200">
                <a:tc>
                  <a:txBody>
                    <a:bodyPr/>
                    <a:lstStyle/>
                    <a:p>
                      <a:pPr indent="0" marL="0">
                        <a:buNone/>
                      </a:pPr>
                      <a:r>
                        <a:rPr lang="en-US" sz="1400" b="1" dirty="0">
                          <a:solidFill>
                            <a:srgbClr val="1B2A21"/>
                          </a:solidFill>
                          <a:latin typeface="Calibri" pitchFamily="34" charset="0"/>
                          <a:ea typeface="Calibri" pitchFamily="34" charset="-122"/>
                          <a:cs typeface="Calibri" pitchFamily="34" charset="-120"/>
                        </a:rPr>
                        <a:t>Ours (512)</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1B2A21"/>
                          </a:solidFill>
                          <a:latin typeface="Calibri" pitchFamily="34" charset="0"/>
                          <a:ea typeface="Calibri" pitchFamily="34" charset="-122"/>
                          <a:cs typeface="Calibri" pitchFamily="34" charset="-120"/>
                        </a:rPr>
                        <a:t>0.833</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D9532B"/>
                          </a:solidFill>
                          <a:latin typeface="Calibri" pitchFamily="34" charset="0"/>
                          <a:ea typeface="Calibri" pitchFamily="34" charset="-122"/>
                          <a:cs typeface="Calibri" pitchFamily="34" charset="-120"/>
                        </a:rPr>
                        <a:t>0.799</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D9532B"/>
                          </a:solidFill>
                          <a:latin typeface="Calibri" pitchFamily="34" charset="0"/>
                          <a:ea typeface="Calibri" pitchFamily="34" charset="-122"/>
                          <a:cs typeface="Calibri" pitchFamily="34" charset="-120"/>
                        </a:rPr>
                        <a:t>0.805</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c>
                  <a:txBody>
                    <a:bodyPr/>
                    <a:lstStyle/>
                    <a:p>
                      <a:pPr algn="r" indent="0" marL="0">
                        <a:buNone/>
                      </a:pPr>
                      <a:r>
                        <a:rPr lang="en-US" sz="1400" dirty="0">
                          <a:solidFill>
                            <a:srgbClr val="D9532B"/>
                          </a:solidFill>
                          <a:latin typeface="Calibri" pitchFamily="34" charset="0"/>
                          <a:ea typeface="Calibri" pitchFamily="34" charset="-122"/>
                          <a:cs typeface="Calibri" pitchFamily="34" charset="-120"/>
                        </a:rPr>
                        <a:t>0.844</a:t>
                      </a:r>
                      <a:endParaRPr lang="en-US" sz="14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BE3D9"/>
                    </a:solidFill>
                  </a:tcPr>
                </a:tc>
              </a:tr>
            </a:tbl>
          </a:graphicData>
        </a:graphic>
      </p:graphicFrame>
      <p:sp>
        <p:nvSpPr>
          <p:cNvPr id="4" name="datasets note"/>
          <p:cNvSpPr txBox="1"/>
          <p:nvPr/>
        </p:nvSpPr>
        <p:spPr>
          <a:xfrm>
            <a:off x="548640" y="5029200"/>
            <a:ext cx="7589520" cy="731520"/>
          </a:xfrm>
          <a:prstGeom prst="rect">
            <a:avLst/>
          </a:prstGeom>
          <a:noFill/>
          <a:ln/>
        </p:spPr>
        <p:txBody>
          <a:bodyPr wrap="square" lIns="0" tIns="0" rIns="0" bIns="0" rtlCol="0" anchor="t"/>
          <a:lstStyle/>
          <a:p>
            <a:pPr indent="0" marL="0">
              <a:buNone/>
            </a:pPr>
            <a:r>
              <a:rPr lang="en-US" sz="1200" dirty="0">
                <a:solidFill>
                  <a:schemeClr val="accent6"/>
                </a:solidFill>
              </a:rPr>
              <a:t>Bold: best per dataset. Orange: our model scores higher than every specialist model. SAM-Adapter was not run on NC4K (≈4 s per image × 4,121 images × 41 conditions).</a:t>
            </a:r>
            <a:endParaRPr lang="en-US" sz="1200" dirty="0"/>
          </a:p>
        </p:txBody>
      </p:sp>
      <p:sp>
        <p:nvSpPr>
          <p:cNvPr id="5" name="datasets takeaway card"/>
          <p:cNvSpPr/>
          <p:nvPr/>
        </p:nvSpPr>
        <p:spPr>
          <a:xfrm>
            <a:off x="8503920" y="1280160"/>
            <a:ext cx="3139135" cy="4480560"/>
          </a:xfrm>
          <a:prstGeom prst="roundRect">
            <a:avLst>
              <a:gd name="adj" fmla="val 2330"/>
            </a:avLst>
          </a:prstGeom>
          <a:solidFill>
            <a:schemeClr val="bg2"/>
          </a:solidFill>
          <a:ln w="12700">
            <a:solidFill>
              <a:schemeClr val="bg2"/>
            </a:solidFill>
            <a:prstDash val="solid"/>
          </a:ln>
        </p:spPr>
      </p:sp>
      <p:sp>
        <p:nvSpPr>
          <p:cNvPr id="6" name="datasets takeaway"/>
          <p:cNvSpPr txBox="1"/>
          <p:nvPr/>
        </p:nvSpPr>
        <p:spPr>
          <a:xfrm>
            <a:off x="8732520" y="1463040"/>
            <a:ext cx="2681935" cy="4114800"/>
          </a:xfrm>
          <a:prstGeom prst="rect">
            <a:avLst/>
          </a:prstGeom>
          <a:noFill/>
          <a:ln/>
        </p:spPr>
        <p:txBody>
          <a:bodyPr wrap="square" lIns="0" tIns="0" rIns="0" bIns="0" rtlCol="0" anchor="t"/>
          <a:lstStyle/>
          <a:p>
            <a:pPr indent="0" marL="0">
              <a:spcAft>
                <a:spcPts val="800"/>
              </a:spcAft>
              <a:buNone/>
            </a:pPr>
            <a:r>
              <a:rPr lang="en-US" sz="1800" b="1" dirty="0">
                <a:solidFill>
                  <a:srgbClr val="1B2A21"/>
                </a:solidFill>
              </a:rPr>
              <a:t>What the table says</a:t>
            </a:r>
            <a:endParaRPr lang="en-US" sz="1500" dirty="0"/>
          </a:p>
          <a:p>
            <a:pPr indent="0" marL="0">
              <a:spcAft>
                <a:spcPts val="800"/>
              </a:spcAft>
              <a:buNone/>
            </a:pPr>
            <a:r>
              <a:rPr lang="en-US" sz="800" dirty="0">
                <a:solidFill>
                  <a:schemeClr val="tx2"/>
                </a:solidFill>
              </a:rPr>
              <a:t> </a:t>
            </a:r>
            <a:endParaRPr lang="en-US" sz="1500" dirty="0"/>
          </a:p>
          <a:p>
            <a:pPr marL="342900" indent="-342900">
              <a:spcAft>
                <a:spcPts val="800"/>
              </a:spcAft>
              <a:buSzPct val="100000"/>
              <a:buChar char="•"/>
            </a:pPr>
            <a:r>
              <a:rPr lang="en-US" sz="1500" dirty="0">
                <a:solidFill>
                  <a:schemeClr val="tx2"/>
                </a:solidFill>
              </a:rPr>
              <a:t>Ours (1024) is ahead of all specialists on COD10K and NC4K, the two large test sets.</a:t>
            </a:r>
            <a:endParaRPr lang="en-US" sz="1500" dirty="0"/>
          </a:p>
          <a:p>
            <a:pPr marL="342900" indent="-342900">
              <a:spcAft>
                <a:spcPts val="800"/>
              </a:spcAft>
              <a:buSzPct val="100000"/>
              <a:buChar char="•"/>
            </a:pPr>
            <a:r>
              <a:rPr lang="en-US" sz="1500" dirty="0">
                <a:solidFill>
                  <a:schemeClr val="tx2"/>
                </a:solidFill>
              </a:rPr>
              <a:t>Level with SINet-V2 on CAMO, behind it on CHAMELEON (76 images).</a:t>
            </a:r>
            <a:endParaRPr lang="en-US" sz="1500" dirty="0"/>
          </a:p>
          <a:p>
            <a:pPr marL="342900" indent="-342900">
              <a:spcAft>
                <a:spcPts val="800"/>
              </a:spcAft>
              <a:buSzPct val="100000"/>
              <a:buChar char="•"/>
            </a:pPr>
            <a:r>
              <a:rPr lang="en-US" sz="1500" dirty="0">
                <a:solidFill>
                  <a:schemeClr val="tx2"/>
                </a:solidFill>
              </a:rPr>
              <a:t>SAM2-UNet is best everywhere, at 20× our size.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Contribution: what is new compared with the literature</a:t>
            </a:r>
            <a:endParaRPr lang="en-US" sz="3400" dirty="0"/>
          </a:p>
        </p:txBody>
      </p:sp>
      <p:sp>
        <p:nvSpPr>
          <p:cNvPr id="3" name="contribution 1"/>
          <p:cNvSpPr/>
          <p:nvPr/>
        </p:nvSpPr>
        <p:spPr>
          <a:xfrm>
            <a:off x="548640" y="1280160"/>
            <a:ext cx="5410048" cy="2331720"/>
          </a:xfrm>
          <a:prstGeom prst="roundRect">
            <a:avLst>
              <a:gd name="adj" fmla="val 3137"/>
            </a:avLst>
          </a:prstGeom>
          <a:solidFill>
            <a:schemeClr val="bg2"/>
          </a:solidFill>
          <a:ln w="12700">
            <a:solidFill>
              <a:schemeClr val="bg2"/>
            </a:solidFill>
            <a:prstDash val="solid"/>
          </a:ln>
        </p:spPr>
      </p:sp>
      <p:sp>
        <p:nvSpPr>
          <p:cNvPr id="4" name="contribution number bg 1"/>
          <p:cNvSpPr/>
          <p:nvPr/>
        </p:nvSpPr>
        <p:spPr>
          <a:xfrm>
            <a:off x="777240" y="1508760"/>
            <a:ext cx="548640" cy="548640"/>
          </a:xfrm>
          <a:prstGeom prst="ellipse">
            <a:avLst/>
          </a:prstGeom>
          <a:solidFill>
            <a:schemeClr val="accent2"/>
          </a:solidFill>
          <a:ln w="12700">
            <a:solidFill>
              <a:schemeClr val="accent2"/>
            </a:solidFill>
            <a:prstDash val="solid"/>
          </a:ln>
        </p:spPr>
      </p:sp>
      <p:sp>
        <p:nvSpPr>
          <p:cNvPr id="5" name="contribution number 1"/>
          <p:cNvSpPr txBox="1"/>
          <p:nvPr/>
        </p:nvSpPr>
        <p:spPr>
          <a:xfrm>
            <a:off x="777240"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contribution head 1"/>
          <p:cNvSpPr txBox="1"/>
          <p:nvPr/>
        </p:nvSpPr>
        <p:spPr>
          <a:xfrm>
            <a:off x="1508760" y="1463040"/>
            <a:ext cx="4221328" cy="640080"/>
          </a:xfrm>
          <a:prstGeom prst="rect">
            <a:avLst/>
          </a:prstGeom>
          <a:noFill/>
          <a:ln/>
        </p:spPr>
        <p:txBody>
          <a:bodyPr wrap="square" lIns="0" tIns="0" rIns="0" bIns="0" rtlCol="0" anchor="ctr"/>
          <a:lstStyle/>
          <a:p>
            <a:pPr indent="0" marL="0">
              <a:buNone/>
            </a:pPr>
            <a:r>
              <a:rPr lang="en-US" sz="1800" b="1" dirty="0">
                <a:solidFill>
                  <a:schemeClr val="tx1"/>
                </a:solidFill>
              </a:rPr>
              <a:t>First corruption benchmark with SAM-based COD models</a:t>
            </a:r>
            <a:endParaRPr lang="en-US" sz="1800" dirty="0"/>
          </a:p>
        </p:txBody>
      </p:sp>
      <p:sp>
        <p:nvSpPr>
          <p:cNvPr id="7" name="contribution body 1"/>
          <p:cNvSpPr txBox="1"/>
          <p:nvPr/>
        </p:nvSpPr>
        <p:spPr>
          <a:xfrm>
            <a:off x="777240" y="2194560"/>
            <a:ext cx="4952848" cy="1280160"/>
          </a:xfrm>
          <a:prstGeom prst="rect">
            <a:avLst/>
          </a:prstGeom>
          <a:noFill/>
          <a:ln/>
        </p:spPr>
        <p:txBody>
          <a:bodyPr wrap="square" lIns="0" tIns="0" rIns="0" bIns="0" rtlCol="0" anchor="t"/>
          <a:lstStyle/>
          <a:p>
            <a:pPr indent="0" marL="0">
              <a:buNone/>
            </a:pPr>
            <a:r>
              <a:rPr lang="en-US" sz="1600" dirty="0">
                <a:solidFill>
                  <a:schemeClr val="tx2"/>
                </a:solidFill>
              </a:rPr>
              <a:t>The only earlier COD corruption benchmark (COD10K-C, 2026) tested CNN specialists only. We add SAM2-UNet and SAM-Adapter: 7 models, 4 datasets, 41 conditions each.</a:t>
            </a:r>
            <a:endParaRPr lang="en-US" sz="1600" dirty="0"/>
          </a:p>
        </p:txBody>
      </p:sp>
      <p:sp>
        <p:nvSpPr>
          <p:cNvPr id="8" name="contribution 2"/>
          <p:cNvSpPr/>
          <p:nvPr/>
        </p:nvSpPr>
        <p:spPr>
          <a:xfrm>
            <a:off x="6233008" y="1280160"/>
            <a:ext cx="5410048" cy="2331720"/>
          </a:xfrm>
          <a:prstGeom prst="roundRect">
            <a:avLst>
              <a:gd name="adj" fmla="val 3137"/>
            </a:avLst>
          </a:prstGeom>
          <a:solidFill>
            <a:schemeClr val="bg2"/>
          </a:solidFill>
          <a:ln w="12700">
            <a:solidFill>
              <a:schemeClr val="bg2"/>
            </a:solidFill>
            <a:prstDash val="solid"/>
          </a:ln>
        </p:spPr>
      </p:sp>
      <p:sp>
        <p:nvSpPr>
          <p:cNvPr id="9" name="contribution number bg 2"/>
          <p:cNvSpPr/>
          <p:nvPr/>
        </p:nvSpPr>
        <p:spPr>
          <a:xfrm>
            <a:off x="6461608" y="1508760"/>
            <a:ext cx="548640" cy="548640"/>
          </a:xfrm>
          <a:prstGeom prst="ellipse">
            <a:avLst/>
          </a:prstGeom>
          <a:solidFill>
            <a:schemeClr val="accent2"/>
          </a:solidFill>
          <a:ln w="12700">
            <a:solidFill>
              <a:schemeClr val="accent2"/>
            </a:solidFill>
            <a:prstDash val="solid"/>
          </a:ln>
        </p:spPr>
      </p:sp>
      <p:sp>
        <p:nvSpPr>
          <p:cNvPr id="10" name="contribution number 2"/>
          <p:cNvSpPr txBox="1"/>
          <p:nvPr/>
        </p:nvSpPr>
        <p:spPr>
          <a:xfrm>
            <a:off x="6461608"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contribution head 2"/>
          <p:cNvSpPr txBox="1"/>
          <p:nvPr/>
        </p:nvSpPr>
        <p:spPr>
          <a:xfrm>
            <a:off x="7193128" y="1463040"/>
            <a:ext cx="4221328" cy="640080"/>
          </a:xfrm>
          <a:prstGeom prst="rect">
            <a:avLst/>
          </a:prstGeom>
          <a:noFill/>
          <a:ln/>
        </p:spPr>
        <p:txBody>
          <a:bodyPr wrap="square" lIns="0" tIns="0" rIns="0" bIns="0" rtlCol="0" anchor="ctr"/>
          <a:lstStyle/>
          <a:p>
            <a:pPr indent="0" marL="0">
              <a:buNone/>
            </a:pPr>
            <a:r>
              <a:rPr lang="en-US" sz="1800" b="1" dirty="0">
                <a:solidFill>
                  <a:schemeClr val="tx1"/>
                </a:solidFill>
              </a:rPr>
              <a:t>Held-out (unseen) corruption protocol</a:t>
            </a:r>
            <a:endParaRPr lang="en-US" sz="1800" dirty="0"/>
          </a:p>
        </p:txBody>
      </p:sp>
      <p:sp>
        <p:nvSpPr>
          <p:cNvPr id="12" name="contribution body 2"/>
          <p:cNvSpPr txBox="1"/>
          <p:nvPr/>
        </p:nvSpPr>
        <p:spPr>
          <a:xfrm>
            <a:off x="6461608" y="2194560"/>
            <a:ext cx="4952848" cy="1280160"/>
          </a:xfrm>
          <a:prstGeom prst="rect">
            <a:avLst/>
          </a:prstGeom>
          <a:noFill/>
          <a:ln/>
        </p:spPr>
        <p:txBody>
          <a:bodyPr wrap="square" lIns="0" tIns="0" rIns="0" bIns="0" rtlCol="0" anchor="t"/>
          <a:lstStyle/>
          <a:p>
            <a:pPr indent="0" marL="0">
              <a:buNone/>
            </a:pPr>
            <a:r>
              <a:rPr lang="en-US" sz="1600" dirty="0">
                <a:solidFill>
                  <a:schemeClr val="tx2"/>
                </a:solidFill>
              </a:rPr>
              <a:t>Train on 4 corruptions, test on 4 never seen, including a new rain corruption. Gain on unseen: +0.005 Sα (95% CI +0.003 to +0.007); rain +0.015.</a:t>
            </a:r>
            <a:endParaRPr lang="en-US" sz="1600" dirty="0"/>
          </a:p>
        </p:txBody>
      </p:sp>
      <p:sp>
        <p:nvSpPr>
          <p:cNvPr id="13" name="contribution 3"/>
          <p:cNvSpPr/>
          <p:nvPr/>
        </p:nvSpPr>
        <p:spPr>
          <a:xfrm>
            <a:off x="548640" y="3886200"/>
            <a:ext cx="5410048" cy="2331720"/>
          </a:xfrm>
          <a:prstGeom prst="roundRect">
            <a:avLst>
              <a:gd name="adj" fmla="val 3137"/>
            </a:avLst>
          </a:prstGeom>
          <a:solidFill>
            <a:schemeClr val="bg2"/>
          </a:solidFill>
          <a:ln w="12700">
            <a:solidFill>
              <a:schemeClr val="bg2"/>
            </a:solidFill>
            <a:prstDash val="solid"/>
          </a:ln>
        </p:spPr>
      </p:sp>
      <p:sp>
        <p:nvSpPr>
          <p:cNvPr id="14" name="contribution number bg 3"/>
          <p:cNvSpPr/>
          <p:nvPr/>
        </p:nvSpPr>
        <p:spPr>
          <a:xfrm>
            <a:off x="777240" y="4114800"/>
            <a:ext cx="548640" cy="548640"/>
          </a:xfrm>
          <a:prstGeom prst="ellipse">
            <a:avLst/>
          </a:prstGeom>
          <a:solidFill>
            <a:schemeClr val="accent2"/>
          </a:solidFill>
          <a:ln w="12700">
            <a:solidFill>
              <a:schemeClr val="accent2"/>
            </a:solidFill>
            <a:prstDash val="solid"/>
          </a:ln>
        </p:spPr>
      </p:sp>
      <p:sp>
        <p:nvSpPr>
          <p:cNvPr id="15" name="contribution number 3"/>
          <p:cNvSpPr txBox="1"/>
          <p:nvPr/>
        </p:nvSpPr>
        <p:spPr>
          <a:xfrm>
            <a:off x="777240" y="4114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contribution head 3"/>
          <p:cNvSpPr txBox="1"/>
          <p:nvPr/>
        </p:nvSpPr>
        <p:spPr>
          <a:xfrm>
            <a:off x="1508760" y="4069080"/>
            <a:ext cx="4221328" cy="640080"/>
          </a:xfrm>
          <a:prstGeom prst="rect">
            <a:avLst/>
          </a:prstGeom>
          <a:noFill/>
          <a:ln/>
        </p:spPr>
        <p:txBody>
          <a:bodyPr wrap="square" lIns="0" tIns="0" rIns="0" bIns="0" rtlCol="0" anchor="ctr"/>
          <a:lstStyle/>
          <a:p>
            <a:pPr indent="0" marL="0">
              <a:buNone/>
            </a:pPr>
            <a:r>
              <a:rPr lang="en-US" sz="1800" b="1" dirty="0">
                <a:solidFill>
                  <a:schemeClr val="tx1"/>
                </a:solidFill>
              </a:rPr>
              <a:t>Input resolution explains robustness</a:t>
            </a:r>
            <a:endParaRPr lang="en-US" sz="1800" dirty="0"/>
          </a:p>
        </p:txBody>
      </p:sp>
      <p:sp>
        <p:nvSpPr>
          <p:cNvPr id="17" name="contribution body 3"/>
          <p:cNvSpPr txBox="1"/>
          <p:nvPr/>
        </p:nvSpPr>
        <p:spPr>
          <a:xfrm>
            <a:off x="777240" y="4800600"/>
            <a:ext cx="4952848" cy="1280160"/>
          </a:xfrm>
          <a:prstGeom prst="rect">
            <a:avLst/>
          </a:prstGeom>
          <a:noFill/>
          <a:ln/>
        </p:spPr>
        <p:txBody>
          <a:bodyPr wrap="square" lIns="0" tIns="0" rIns="0" bIns="0" rtlCol="0" anchor="t"/>
          <a:lstStyle/>
          <a:p>
            <a:pPr indent="0" marL="0">
              <a:buNone/>
            </a:pPr>
            <a:r>
              <a:rPr lang="en-US" sz="1600" dirty="0">
                <a:solidFill>
                  <a:schemeClr val="tx2"/>
                </a:solidFill>
              </a:rPr>
              <a:t>The 1024-px models lose the most under local corruptions. Training at 512 px keeps accuracy there (+0.000, 95% CI −0.003 to +0.002) at twice the speed.</a:t>
            </a:r>
            <a:endParaRPr lang="en-US" sz="1600" dirty="0"/>
          </a:p>
        </p:txBody>
      </p:sp>
      <p:sp>
        <p:nvSpPr>
          <p:cNvPr id="18" name="contribution 4"/>
          <p:cNvSpPr/>
          <p:nvPr/>
        </p:nvSpPr>
        <p:spPr>
          <a:xfrm>
            <a:off x="6233008" y="3886200"/>
            <a:ext cx="5410048" cy="2331720"/>
          </a:xfrm>
          <a:prstGeom prst="roundRect">
            <a:avLst>
              <a:gd name="adj" fmla="val 3137"/>
            </a:avLst>
          </a:prstGeom>
          <a:solidFill>
            <a:schemeClr val="bg2"/>
          </a:solidFill>
          <a:ln w="12700">
            <a:solidFill>
              <a:schemeClr val="bg2"/>
            </a:solidFill>
            <a:prstDash val="solid"/>
          </a:ln>
        </p:spPr>
      </p:sp>
      <p:sp>
        <p:nvSpPr>
          <p:cNvPr id="19" name="contribution number bg 4"/>
          <p:cNvSpPr/>
          <p:nvPr/>
        </p:nvSpPr>
        <p:spPr>
          <a:xfrm>
            <a:off x="6461608" y="4114800"/>
            <a:ext cx="548640" cy="548640"/>
          </a:xfrm>
          <a:prstGeom prst="ellipse">
            <a:avLst/>
          </a:prstGeom>
          <a:solidFill>
            <a:schemeClr val="accent2"/>
          </a:solidFill>
          <a:ln w="12700">
            <a:solidFill>
              <a:schemeClr val="accent2"/>
            </a:solidFill>
            <a:prstDash val="solid"/>
          </a:ln>
        </p:spPr>
      </p:sp>
      <p:sp>
        <p:nvSpPr>
          <p:cNvPr id="20" name="contribution number 4"/>
          <p:cNvSpPr txBox="1"/>
          <p:nvPr/>
        </p:nvSpPr>
        <p:spPr>
          <a:xfrm>
            <a:off x="6461608" y="4114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contribution head 4"/>
          <p:cNvSpPr txBox="1"/>
          <p:nvPr/>
        </p:nvSpPr>
        <p:spPr>
          <a:xfrm>
            <a:off x="7193128" y="4069080"/>
            <a:ext cx="4221328" cy="640080"/>
          </a:xfrm>
          <a:prstGeom prst="rect">
            <a:avLst/>
          </a:prstGeom>
          <a:noFill/>
          <a:ln/>
        </p:spPr>
        <p:txBody>
          <a:bodyPr wrap="square" lIns="0" tIns="0" rIns="0" bIns="0" rtlCol="0" anchor="ctr"/>
          <a:lstStyle/>
          <a:p>
            <a:pPr indent="0" marL="0">
              <a:buNone/>
            </a:pPr>
            <a:r>
              <a:rPr lang="en-US" sz="1800" b="1" dirty="0">
                <a:solidFill>
                  <a:schemeClr val="tx1"/>
                </a:solidFill>
              </a:rPr>
              <a:t>A robust adapter that trains on a 4 GB laptop</a:t>
            </a:r>
            <a:endParaRPr lang="en-US" sz="1800" dirty="0"/>
          </a:p>
        </p:txBody>
      </p:sp>
      <p:sp>
        <p:nvSpPr>
          <p:cNvPr id="22" name="contribution body 4"/>
          <p:cNvSpPr txBox="1"/>
          <p:nvPr/>
        </p:nvSpPr>
        <p:spPr>
          <a:xfrm>
            <a:off x="6461608" y="4800600"/>
            <a:ext cx="4952848" cy="1280160"/>
          </a:xfrm>
          <a:prstGeom prst="rect">
            <a:avLst/>
          </a:prstGeom>
          <a:noFill/>
          <a:ln/>
        </p:spPr>
        <p:txBody>
          <a:bodyPr wrap="square" lIns="0" tIns="0" rIns="0" bIns="0" rtlCol="0" anchor="t"/>
          <a:lstStyle/>
          <a:p>
            <a:pPr indent="0" marL="0">
              <a:buNone/>
            </a:pPr>
            <a:r>
              <a:rPr lang="en-US" sz="1600" dirty="0">
                <a:solidFill>
                  <a:schemeClr val="tx2"/>
                </a:solidFill>
              </a:rPr>
              <a:t>Prompt-free MobileSAM adapter with a clean/corrupted consistency loss and 3.7 M trained parameters. Ours (1024) is ahead of all specialists under corruption on COD10K and NC4K; Ours (512) trains in 2.6 h.</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ummary title"/>
          <p:cNvSpPr txBox="1"/>
          <p:nvPr/>
        </p:nvSpPr>
        <p:spPr>
          <a:xfrm>
            <a:off x="548640" y="548640"/>
            <a:ext cx="11094415"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Summary</a:t>
            </a:r>
            <a:endParaRPr lang="en-US" sz="4000" dirty="0"/>
          </a:p>
        </p:txBody>
      </p:sp>
      <p:sp>
        <p:nvSpPr>
          <p:cNvPr id="3" name="summary dot 1"/>
          <p:cNvSpPr/>
          <p:nvPr/>
        </p:nvSpPr>
        <p:spPr>
          <a:xfrm>
            <a:off x="548640" y="1783080"/>
            <a:ext cx="457200" cy="457200"/>
          </a:xfrm>
          <a:prstGeom prst="ellipse">
            <a:avLst/>
          </a:prstGeom>
          <a:solidFill>
            <a:schemeClr val="accent2"/>
          </a:solidFill>
          <a:ln w="12700">
            <a:solidFill>
              <a:schemeClr val="accent2"/>
            </a:solidFill>
            <a:prstDash val="solid"/>
          </a:ln>
        </p:spPr>
      </p:sp>
      <p:sp>
        <p:nvSpPr>
          <p:cNvPr id="4" name="summary number 1"/>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ummary item 1"/>
          <p:cNvSpPr txBox="1"/>
          <p:nvPr/>
        </p:nvSpPr>
        <p:spPr>
          <a:xfrm>
            <a:off x="1280160" y="1737360"/>
            <a:ext cx="10362895" cy="1005840"/>
          </a:xfrm>
          <a:prstGeom prst="rect">
            <a:avLst/>
          </a:prstGeom>
          <a:noFill/>
          <a:ln/>
        </p:spPr>
        <p:txBody>
          <a:bodyPr wrap="square" lIns="0" tIns="0" rIns="0" bIns="0" rtlCol="0" anchor="t"/>
          <a:lstStyle/>
          <a:p>
            <a:pPr indent="0" marL="0">
              <a:buNone/>
            </a:pPr>
            <a:r>
              <a:rPr lang="en-US" sz="2000" b="1" dirty="0">
                <a:solidFill>
                  <a:srgbClr val="FFFFFF"/>
                </a:solidFill>
              </a:rPr>
              <a:t>SAM2-UNet is the most accurate model, also under corruption</a:t>
            </a:r>
            <a:endParaRPr lang="en-US" sz="2000" dirty="0"/>
          </a:p>
          <a:p>
            <a:pPr indent="0" marL="0">
              <a:buNone/>
            </a:pPr>
            <a:r>
              <a:rPr lang="en-US" sz="1600" dirty="0">
                <a:solidFill>
                  <a:srgbClr val="EEF3EA"/>
                </a:solidFill>
              </a:rPr>
              <a:t>at 216.5 M parameters; SAM-Adapter takes 3.8 s per image on a laptop GPU.</a:t>
            </a:r>
            <a:endParaRPr lang="en-US" sz="2000" dirty="0"/>
          </a:p>
        </p:txBody>
      </p:sp>
      <p:sp>
        <p:nvSpPr>
          <p:cNvPr id="6" name="summary dot 2"/>
          <p:cNvSpPr/>
          <p:nvPr/>
        </p:nvSpPr>
        <p:spPr>
          <a:xfrm>
            <a:off x="548640" y="3017520"/>
            <a:ext cx="457200" cy="457200"/>
          </a:xfrm>
          <a:prstGeom prst="ellipse">
            <a:avLst/>
          </a:prstGeom>
          <a:solidFill>
            <a:schemeClr val="accent2"/>
          </a:solidFill>
          <a:ln w="12700">
            <a:solidFill>
              <a:schemeClr val="accent2"/>
            </a:solidFill>
            <a:prstDash val="solid"/>
          </a:ln>
        </p:spPr>
      </p:sp>
      <p:sp>
        <p:nvSpPr>
          <p:cNvPr id="7" name="summary number 2"/>
          <p:cNvSpPr txBox="1"/>
          <p:nvPr/>
        </p:nvSpPr>
        <p:spPr>
          <a:xfrm>
            <a:off x="548640"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summary item 2"/>
          <p:cNvSpPr txBox="1"/>
          <p:nvPr/>
        </p:nvSpPr>
        <p:spPr>
          <a:xfrm>
            <a:off x="1280160" y="2971800"/>
            <a:ext cx="10362895" cy="1005840"/>
          </a:xfrm>
          <a:prstGeom prst="rect">
            <a:avLst/>
          </a:prstGeom>
          <a:noFill/>
          <a:ln/>
        </p:spPr>
        <p:txBody>
          <a:bodyPr wrap="square" lIns="0" tIns="0" rIns="0" bIns="0" rtlCol="0" anchor="t"/>
          <a:lstStyle/>
          <a:p>
            <a:pPr indent="0" marL="0">
              <a:buNone/>
            </a:pPr>
            <a:r>
              <a:rPr lang="en-US" sz="2000" b="1" dirty="0">
                <a:solidFill>
                  <a:srgbClr val="FFFFFF"/>
                </a:solidFill>
              </a:rPr>
              <a:t>Our 512-px adapter is the fastest model tested</a:t>
            </a:r>
            <a:endParaRPr lang="en-US" sz="2000" dirty="0"/>
          </a:p>
          <a:p>
            <a:pPr indent="0" marL="0">
              <a:buNone/>
            </a:pPr>
            <a:r>
              <a:rPr lang="en-US" sz="1600" dirty="0">
                <a:solidFill>
                  <a:srgbClr val="EEF3EA"/>
                </a:solidFill>
              </a:rPr>
              <a:t>23.1 ms and 87 MB, and ahead of SINet-V2 under corruption (+0.010).</a:t>
            </a:r>
            <a:endParaRPr lang="en-US" sz="2000" dirty="0"/>
          </a:p>
        </p:txBody>
      </p:sp>
      <p:sp>
        <p:nvSpPr>
          <p:cNvPr id="9" name="summary dot 3"/>
          <p:cNvSpPr/>
          <p:nvPr/>
        </p:nvSpPr>
        <p:spPr>
          <a:xfrm>
            <a:off x="548640" y="4251960"/>
            <a:ext cx="457200" cy="457200"/>
          </a:xfrm>
          <a:prstGeom prst="ellipse">
            <a:avLst/>
          </a:prstGeom>
          <a:solidFill>
            <a:schemeClr val="accent2"/>
          </a:solidFill>
          <a:ln w="12700">
            <a:solidFill>
              <a:schemeClr val="accent2"/>
            </a:solidFill>
            <a:prstDash val="solid"/>
          </a:ln>
        </p:spPr>
      </p:sp>
      <p:sp>
        <p:nvSpPr>
          <p:cNvPr id="10" name="summary number 3"/>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summary item 3"/>
          <p:cNvSpPr txBox="1"/>
          <p:nvPr/>
        </p:nvSpPr>
        <p:spPr>
          <a:xfrm>
            <a:off x="1280160" y="4206240"/>
            <a:ext cx="10362895" cy="1005840"/>
          </a:xfrm>
          <a:prstGeom prst="rect">
            <a:avLst/>
          </a:prstGeom>
          <a:noFill/>
          <a:ln/>
        </p:spPr>
        <p:txBody>
          <a:bodyPr wrap="square" lIns="0" tIns="0" rIns="0" bIns="0" rtlCol="0" anchor="t"/>
          <a:lstStyle/>
          <a:p>
            <a:pPr indent="0" marL="0">
              <a:buNone/>
            </a:pPr>
            <a:r>
              <a:rPr lang="en-US" sz="2000" b="1" dirty="0">
                <a:solidFill>
                  <a:srgbClr val="FFFFFF"/>
                </a:solidFill>
              </a:rPr>
              <a:t>Robustness partly transfers to unseen corruptions</a:t>
            </a:r>
            <a:endParaRPr lang="en-US" sz="2000" dirty="0"/>
          </a:p>
          <a:p>
            <a:pPr indent="0" marL="0">
              <a:buNone/>
            </a:pPr>
            <a:r>
              <a:rPr lang="en-US" sz="1600" dirty="0">
                <a:solidFill>
                  <a:srgbClr val="EEF3EA"/>
                </a:solidFill>
              </a:rPr>
              <a:t>+0.005 Sα from training on four corruption types.</a:t>
            </a:r>
            <a:endParaRPr lang="en-US" sz="2000" dirty="0"/>
          </a:p>
        </p:txBody>
      </p:sp>
      <p:sp>
        <p:nvSpPr>
          <p:cNvPr id="12" name="limitations"/>
          <p:cNvSpPr txBox="1"/>
          <p:nvPr/>
        </p:nvSpPr>
        <p:spPr>
          <a:xfrm>
            <a:off x="548640" y="5577840"/>
            <a:ext cx="11094415" cy="548640"/>
          </a:xfrm>
          <a:prstGeom prst="rect">
            <a:avLst/>
          </a:prstGeom>
          <a:noFill/>
          <a:ln/>
        </p:spPr>
        <p:txBody>
          <a:bodyPr wrap="square" lIns="0" tIns="0" rIns="0" bIns="0" rtlCol="0" anchor="ctr"/>
          <a:lstStyle/>
          <a:p>
            <a:pPr indent="0" marL="0">
              <a:buNone/>
            </a:pPr>
            <a:r>
              <a:rPr lang="en-US" sz="1400" i="1" dirty="0">
                <a:solidFill>
                  <a:schemeClr val="accent3"/>
                </a:solidFill>
              </a:rPr>
              <a:t>Limitations: synthetic corruptions are not real camera degradation; SAM2-UNet remains more accurate; one GPU class tested.</a:t>
            </a:r>
            <a:endParaRPr lang="en-US" sz="1400" dirty="0"/>
          </a:p>
        </p:txBody>
      </p:sp>
      <p:sp>
        <p:nvSpPr>
          <p:cNvPr id="14" name="Text 0"/>
          <p:cNvSpPr/>
          <p:nvPr>
            <p:ph idx="100" type="title" hasCustomPrompt="1"/>
          </p:nvPr>
        </p:nvSpPr>
        <p:spPr>
          <a:xfrm>
            <a:off x="548640" y="1828800"/>
            <a:ext cx="6400800" cy="1737360"/>
          </a:xfrm>
          <a:prstGeom prst="rect">
            <a:avLst/>
          </a:prstGeom>
          <a:noFill/>
          <a:ln/>
        </p:spPr>
        <p:txBody>
          <a:bodyPr wrap="square" lIns="0" tIns="0" rIns="0" bIns="0" rtlCol="0" anchor="t"/>
          <a:lstStyle/>
          <a:p>
            <a:pPr algn="l" indent="0" marL="0">
              <a:buNone/>
            </a:pPr>
            <a:endParaRPr lang="en-US" sz="4000" dirty="0"/>
          </a:p>
        </p:txBody>
      </p:sp>
    </p:spTree>
  </p:cSld>
  <p:clrMapOvr>
    <a:masterClrMapping/>
  </p:clrMapOvr>
</p:sld>
</file>

<file path=ppt/theme/theme1.xml><?xml version="1.0" encoding="utf-8"?>
<a:theme xmlns:a="http://schemas.openxmlformats.org/drawingml/2006/main" name="Camouflage">
  <a:themeElements>
    <a:clrScheme name="Camouflage">
      <a:dk1>
        <a:srgbClr val="1B2A21"/>
      </a:dk1>
      <a:lt1>
        <a:srgbClr val="FFFFFF"/>
      </a:lt1>
      <a:dk2>
        <a:srgbClr val="2C4A36"/>
      </a:dk2>
      <a:lt2>
        <a:srgbClr val="EEF3EA"/>
      </a:lt2>
      <a:accent1>
        <a:srgbClr val="4F7A3A"/>
      </a:accent1>
      <a:accent2>
        <a:srgbClr val="D9532B"/>
      </a:accent2>
      <a:accent3>
        <a:srgbClr val="A9C77C"/>
      </a:accent3>
      <a:accent4>
        <a:srgbClr val="8C6D46"/>
      </a:accent4>
      <a:accent5>
        <a:srgbClr val="5E7F99"/>
      </a:accent5>
      <a:accent6>
        <a:srgbClr val="8A8F8A"/>
      </a:accent6>
      <a:hlink>
        <a:srgbClr val="4F7A3A"/>
      </a:hlink>
      <a:folHlink>
        <a:srgbClr val="8C6D46"/>
      </a:folHlink>
    </a:clrScheme>
    <a:fontScheme name="Camoufl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Robust Camouflaged Object Detection on a Laptop GPU</dc:title>
  <dc:subject>PptxGenJS Presentation</dc:subject>
  <dc:creator>Ronak Daniel, Neel Jaiswal</dc:creator>
  <cp:lastModifiedBy>Ronak Daniel, Neel Jaiswal</cp:lastModifiedBy>
  <cp:revision>1</cp:revision>
  <dcterms:created xsi:type="dcterms:W3CDTF">2026-10-27T07:29:53Z</dcterms:created>
  <dcterms:modified xsi:type="dcterms:W3CDTF">2026-10-27T07:29:53Z</dcterms:modified>
</cp:coreProperties>
</file>